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</p:embeddedFont>
    <p:embeddedFont>
      <p:font typeface="RQND Pro Wide" panose="020B0604020202020204" charset="0"/>
      <p:regular r:id="rId16"/>
    </p:embeddedFont>
    <p:embeddedFont>
      <p:font typeface="Telegraf" panose="020B0604020202020204" charset="0"/>
      <p:regular r:id="rId17"/>
    </p:embeddedFont>
    <p:embeddedFont>
      <p:font typeface="Telegraf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63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5.svg"/><Relationship Id="rId7" Type="http://schemas.openxmlformats.org/officeDocument/2006/relationships/image" Target="../media/image12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5.svg"/><Relationship Id="rId7" Type="http://schemas.openxmlformats.org/officeDocument/2006/relationships/image" Target="../media/image12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4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5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.sv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25.jpeg"/><Relationship Id="rId7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4765880"/>
            <a:ext cx="16230600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5308992" y="4143552"/>
            <a:ext cx="2979008" cy="3362148"/>
            <a:chOff x="0" y="0"/>
            <a:chExt cx="1478673" cy="8855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78673" cy="885504"/>
            </a:xfrm>
            <a:custGeom>
              <a:avLst/>
              <a:gdLst/>
              <a:ahLst/>
              <a:cxnLst/>
              <a:rect l="l" t="t" r="r" b="b"/>
              <a:pathLst>
                <a:path w="1478673" h="885504">
                  <a:moveTo>
                    <a:pt x="0" y="0"/>
                  </a:moveTo>
                  <a:lnTo>
                    <a:pt x="1478673" y="0"/>
                  </a:lnTo>
                  <a:lnTo>
                    <a:pt x="1478673" y="885504"/>
                  </a:lnTo>
                  <a:lnTo>
                    <a:pt x="0" y="885504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78673" cy="923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028700" y="9253538"/>
            <a:ext cx="16230600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1">
            <a:off x="8115259" y="1112594"/>
            <a:ext cx="9144041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9854990" y="912465"/>
            <a:ext cx="7404310" cy="8462069"/>
          </a:xfrm>
          <a:custGeom>
            <a:avLst/>
            <a:gdLst/>
            <a:ahLst/>
            <a:cxnLst/>
            <a:rect l="l" t="t" r="r" b="b"/>
            <a:pathLst>
              <a:path w="7404310" h="8462069">
                <a:moveTo>
                  <a:pt x="0" y="0"/>
                </a:moveTo>
                <a:lnTo>
                  <a:pt x="7404310" y="0"/>
                </a:lnTo>
                <a:lnTo>
                  <a:pt x="7404310" y="8462070"/>
                </a:lnTo>
                <a:lnTo>
                  <a:pt x="0" y="8462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-10800000">
            <a:off x="228599" y="5488425"/>
            <a:ext cx="5538958" cy="1575643"/>
            <a:chOff x="0" y="0"/>
            <a:chExt cx="2424701" cy="4149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24701" cy="414984"/>
            </a:xfrm>
            <a:custGeom>
              <a:avLst/>
              <a:gdLst/>
              <a:ahLst/>
              <a:cxnLst/>
              <a:rect l="l" t="t" r="r" b="b"/>
              <a:pathLst>
                <a:path w="2424701" h="414984">
                  <a:moveTo>
                    <a:pt x="0" y="0"/>
                  </a:moveTo>
                  <a:lnTo>
                    <a:pt x="2424701" y="0"/>
                  </a:lnTo>
                  <a:lnTo>
                    <a:pt x="2424701" y="414984"/>
                  </a:lnTo>
                  <a:lnTo>
                    <a:pt x="0" y="414984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424701" cy="453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3776262" y="2780873"/>
            <a:ext cx="1374057" cy="594592"/>
          </a:xfrm>
          <a:custGeom>
            <a:avLst/>
            <a:gdLst/>
            <a:ahLst/>
            <a:cxnLst/>
            <a:rect l="l" t="t" r="r" b="b"/>
            <a:pathLst>
              <a:path w="1374057" h="594592">
                <a:moveTo>
                  <a:pt x="0" y="0"/>
                </a:moveTo>
                <a:lnTo>
                  <a:pt x="1374057" y="0"/>
                </a:lnTo>
                <a:lnTo>
                  <a:pt x="1374057" y="594592"/>
                </a:lnTo>
                <a:lnTo>
                  <a:pt x="0" y="594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27962" y="5599937"/>
            <a:ext cx="15623834" cy="3349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58"/>
              </a:lnSpc>
            </a:pPr>
            <a:r>
              <a:rPr lang="en-US" sz="20640" spc="-206">
                <a:solidFill>
                  <a:srgbClr val="5CE1E6"/>
                </a:solidFill>
                <a:latin typeface="RQND Pro Wide"/>
                <a:ea typeface="RQND Pro Wide"/>
                <a:cs typeface="RQND Pro Wide"/>
                <a:sym typeface="RQND Pro Wide"/>
              </a:rPr>
              <a:t>CYBER SECURITY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617044" y="2256540"/>
            <a:ext cx="3774729" cy="1643259"/>
            <a:chOff x="0" y="0"/>
            <a:chExt cx="994167" cy="4327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94167" cy="432792"/>
            </a:xfrm>
            <a:custGeom>
              <a:avLst/>
              <a:gdLst/>
              <a:ahLst/>
              <a:cxnLst/>
              <a:rect l="l" t="t" r="r" b="b"/>
              <a:pathLst>
                <a:path w="994167" h="432792">
                  <a:moveTo>
                    <a:pt x="0" y="0"/>
                  </a:moveTo>
                  <a:lnTo>
                    <a:pt x="994167" y="0"/>
                  </a:lnTo>
                  <a:lnTo>
                    <a:pt x="994167" y="432792"/>
                  </a:lnTo>
                  <a:lnTo>
                    <a:pt x="0" y="432792"/>
                  </a:lnTo>
                  <a:close/>
                </a:path>
              </a:pathLst>
            </a:custGeom>
            <a:solidFill>
              <a:srgbClr val="0F006C"/>
            </a:solidFill>
            <a:ln w="9525" cap="sq">
              <a:solidFill>
                <a:srgbClr val="523AE7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94167" cy="470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617044" y="2256540"/>
            <a:ext cx="725087" cy="118438"/>
            <a:chOff x="0" y="0"/>
            <a:chExt cx="190970" cy="3119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0970" cy="31194"/>
            </a:xfrm>
            <a:custGeom>
              <a:avLst/>
              <a:gdLst/>
              <a:ahLst/>
              <a:cxnLst/>
              <a:rect l="l" t="t" r="r" b="b"/>
              <a:pathLst>
                <a:path w="190970" h="31194">
                  <a:moveTo>
                    <a:pt x="0" y="0"/>
                  </a:moveTo>
                  <a:lnTo>
                    <a:pt x="190970" y="0"/>
                  </a:lnTo>
                  <a:lnTo>
                    <a:pt x="190970" y="31194"/>
                  </a:lnTo>
                  <a:lnTo>
                    <a:pt x="0" y="31194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90970" cy="6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534213" y="8302319"/>
            <a:ext cx="725087" cy="118438"/>
            <a:chOff x="0" y="0"/>
            <a:chExt cx="190970" cy="3119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0970" cy="31194"/>
            </a:xfrm>
            <a:custGeom>
              <a:avLst/>
              <a:gdLst/>
              <a:ahLst/>
              <a:cxnLst/>
              <a:rect l="l" t="t" r="r" b="b"/>
              <a:pathLst>
                <a:path w="190970" h="31194">
                  <a:moveTo>
                    <a:pt x="0" y="0"/>
                  </a:moveTo>
                  <a:lnTo>
                    <a:pt x="190970" y="0"/>
                  </a:lnTo>
                  <a:lnTo>
                    <a:pt x="190970" y="31194"/>
                  </a:lnTo>
                  <a:lnTo>
                    <a:pt x="0" y="31194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90970" cy="6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6342131" y="1028700"/>
            <a:ext cx="1773128" cy="177313"/>
          </a:xfrm>
          <a:custGeom>
            <a:avLst/>
            <a:gdLst/>
            <a:ahLst/>
            <a:cxnLst/>
            <a:rect l="l" t="t" r="r" b="b"/>
            <a:pathLst>
              <a:path w="1773128" h="177313">
                <a:moveTo>
                  <a:pt x="0" y="0"/>
                </a:moveTo>
                <a:lnTo>
                  <a:pt x="1773128" y="0"/>
                </a:lnTo>
                <a:lnTo>
                  <a:pt x="1773128" y="177313"/>
                </a:lnTo>
                <a:lnTo>
                  <a:pt x="0" y="1773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flipH="1">
            <a:off x="1308791" y="2256540"/>
            <a:ext cx="2725359" cy="2619751"/>
          </a:xfrm>
          <a:custGeom>
            <a:avLst/>
            <a:gdLst/>
            <a:ahLst/>
            <a:cxnLst/>
            <a:rect l="l" t="t" r="r" b="b"/>
            <a:pathLst>
              <a:path w="2725359" h="2619751">
                <a:moveTo>
                  <a:pt x="2725358" y="0"/>
                </a:moveTo>
                <a:lnTo>
                  <a:pt x="0" y="0"/>
                </a:lnTo>
                <a:lnTo>
                  <a:pt x="0" y="2619751"/>
                </a:lnTo>
                <a:lnTo>
                  <a:pt x="2725358" y="2619751"/>
                </a:lnTo>
                <a:lnTo>
                  <a:pt x="2725358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6066519" y="2690844"/>
            <a:ext cx="2875778" cy="78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Understanding phishing </a:t>
            </a:r>
          </a:p>
          <a:p>
            <a:pPr algn="l">
              <a:lnSpc>
                <a:spcPts val="1999"/>
              </a:lnSpc>
            </a:pPr>
            <a:r>
              <a:rPr lang="en-US" sz="19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attacks and social engineering.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42977" y="1028700"/>
            <a:ext cx="402047" cy="379386"/>
          </a:xfrm>
          <a:custGeom>
            <a:avLst/>
            <a:gdLst/>
            <a:ahLst/>
            <a:cxnLst/>
            <a:rect l="l" t="t" r="r" b="b"/>
            <a:pathLst>
              <a:path w="402047" h="379386">
                <a:moveTo>
                  <a:pt x="0" y="0"/>
                </a:moveTo>
                <a:lnTo>
                  <a:pt x="402046" y="0"/>
                </a:lnTo>
                <a:lnTo>
                  <a:pt x="402046" y="379386"/>
                </a:lnTo>
                <a:lnTo>
                  <a:pt x="0" y="3793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319084" y="9047955"/>
            <a:ext cx="3649832" cy="21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800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FRADEL AND SPIES CO</a:t>
            </a:r>
          </a:p>
        </p:txBody>
      </p:sp>
      <p:grpSp>
        <p:nvGrpSpPr>
          <p:cNvPr id="4" name="Group 4"/>
          <p:cNvGrpSpPr/>
          <p:nvPr/>
        </p:nvGrpSpPr>
        <p:grpSpPr>
          <a:xfrm rot="-10800000">
            <a:off x="-3" y="3436319"/>
            <a:ext cx="2635832" cy="3414362"/>
            <a:chOff x="0" y="0"/>
            <a:chExt cx="1416735" cy="8992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16735" cy="899256"/>
            </a:xfrm>
            <a:custGeom>
              <a:avLst/>
              <a:gdLst/>
              <a:ahLst/>
              <a:cxnLst/>
              <a:rect l="l" t="t" r="r" b="b"/>
              <a:pathLst>
                <a:path w="1416735" h="899256">
                  <a:moveTo>
                    <a:pt x="0" y="0"/>
                  </a:moveTo>
                  <a:lnTo>
                    <a:pt x="1416735" y="0"/>
                  </a:lnTo>
                  <a:lnTo>
                    <a:pt x="1416735" y="899256"/>
                  </a:lnTo>
                  <a:lnTo>
                    <a:pt x="0" y="899256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416735" cy="937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652171" y="3436319"/>
            <a:ext cx="2635830" cy="3414362"/>
            <a:chOff x="0" y="0"/>
            <a:chExt cx="1416735" cy="8992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16735" cy="899256"/>
            </a:xfrm>
            <a:custGeom>
              <a:avLst/>
              <a:gdLst/>
              <a:ahLst/>
              <a:cxnLst/>
              <a:rect l="l" t="t" r="r" b="b"/>
              <a:pathLst>
                <a:path w="1416735" h="899256">
                  <a:moveTo>
                    <a:pt x="0" y="0"/>
                  </a:moveTo>
                  <a:lnTo>
                    <a:pt x="1416735" y="0"/>
                  </a:lnTo>
                  <a:lnTo>
                    <a:pt x="1416735" y="899256"/>
                  </a:lnTo>
                  <a:lnTo>
                    <a:pt x="0" y="899256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416735" cy="937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210383" y="2982564"/>
            <a:ext cx="13867235" cy="4626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4"/>
              </a:lnSpc>
            </a:pPr>
            <a:r>
              <a:rPr lang="en-US" sz="10991" spc="-109">
                <a:solidFill>
                  <a:srgbClr val="5CE1E6"/>
                </a:solidFill>
                <a:latin typeface="RQND Pro Wide"/>
                <a:ea typeface="RQND Pro Wide"/>
                <a:cs typeface="RQND Pro Wide"/>
                <a:sym typeface="RQND Pro Wide"/>
              </a:rPr>
              <a:t>“IN THE DIGITAL AGE, SECURITY IS NOT JUST PROTECTION—IT’S EMPOWERMENT.”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28700" y="2618092"/>
            <a:ext cx="16230600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028700" y="7871174"/>
            <a:ext cx="16230600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 rot="1988424">
            <a:off x="1012506" y="2861094"/>
            <a:ext cx="2395754" cy="2518533"/>
          </a:xfrm>
          <a:custGeom>
            <a:avLst/>
            <a:gdLst/>
            <a:ahLst/>
            <a:cxnLst/>
            <a:rect l="l" t="t" r="r" b="b"/>
            <a:pathLst>
              <a:path w="2395754" h="2518533">
                <a:moveTo>
                  <a:pt x="0" y="0"/>
                </a:moveTo>
                <a:lnTo>
                  <a:pt x="2395754" y="0"/>
                </a:lnTo>
                <a:lnTo>
                  <a:pt x="2395754" y="2518532"/>
                </a:lnTo>
                <a:lnTo>
                  <a:pt x="0" y="25185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499491" flipH="1">
            <a:off x="13044832" y="7040640"/>
            <a:ext cx="2133593" cy="2242936"/>
          </a:xfrm>
          <a:custGeom>
            <a:avLst/>
            <a:gdLst/>
            <a:ahLst/>
            <a:cxnLst/>
            <a:rect l="l" t="t" r="r" b="b"/>
            <a:pathLst>
              <a:path w="2133593" h="2242936">
                <a:moveTo>
                  <a:pt x="2133594" y="0"/>
                </a:moveTo>
                <a:lnTo>
                  <a:pt x="0" y="0"/>
                </a:lnTo>
                <a:lnTo>
                  <a:pt x="0" y="2242936"/>
                </a:lnTo>
                <a:lnTo>
                  <a:pt x="2133594" y="2242936"/>
                </a:lnTo>
                <a:lnTo>
                  <a:pt x="213359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028700" y="2499654"/>
            <a:ext cx="725087" cy="118438"/>
            <a:chOff x="0" y="0"/>
            <a:chExt cx="190970" cy="3119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0970" cy="31194"/>
            </a:xfrm>
            <a:custGeom>
              <a:avLst/>
              <a:gdLst/>
              <a:ahLst/>
              <a:cxnLst/>
              <a:rect l="l" t="t" r="r" b="b"/>
              <a:pathLst>
                <a:path w="190970" h="31194">
                  <a:moveTo>
                    <a:pt x="0" y="0"/>
                  </a:moveTo>
                  <a:lnTo>
                    <a:pt x="190970" y="0"/>
                  </a:lnTo>
                  <a:lnTo>
                    <a:pt x="190970" y="31194"/>
                  </a:lnTo>
                  <a:lnTo>
                    <a:pt x="0" y="31194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90970" cy="6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534213" y="2499654"/>
            <a:ext cx="725087" cy="118438"/>
            <a:chOff x="0" y="0"/>
            <a:chExt cx="190970" cy="311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0970" cy="31194"/>
            </a:xfrm>
            <a:custGeom>
              <a:avLst/>
              <a:gdLst/>
              <a:ahLst/>
              <a:cxnLst/>
              <a:rect l="l" t="t" r="r" b="b"/>
              <a:pathLst>
                <a:path w="190970" h="31194">
                  <a:moveTo>
                    <a:pt x="0" y="0"/>
                  </a:moveTo>
                  <a:lnTo>
                    <a:pt x="190970" y="0"/>
                  </a:lnTo>
                  <a:lnTo>
                    <a:pt x="190970" y="31194"/>
                  </a:lnTo>
                  <a:lnTo>
                    <a:pt x="0" y="31194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90970" cy="6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28700" y="7871174"/>
            <a:ext cx="725087" cy="118438"/>
            <a:chOff x="0" y="0"/>
            <a:chExt cx="190970" cy="3119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0970" cy="31194"/>
            </a:xfrm>
            <a:custGeom>
              <a:avLst/>
              <a:gdLst/>
              <a:ahLst/>
              <a:cxnLst/>
              <a:rect l="l" t="t" r="r" b="b"/>
              <a:pathLst>
                <a:path w="190970" h="31194">
                  <a:moveTo>
                    <a:pt x="0" y="0"/>
                  </a:moveTo>
                  <a:lnTo>
                    <a:pt x="190970" y="0"/>
                  </a:lnTo>
                  <a:lnTo>
                    <a:pt x="190970" y="31194"/>
                  </a:lnTo>
                  <a:lnTo>
                    <a:pt x="0" y="31194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90970" cy="6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534213" y="7871174"/>
            <a:ext cx="725087" cy="118438"/>
            <a:chOff x="0" y="0"/>
            <a:chExt cx="190970" cy="3119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0970" cy="31194"/>
            </a:xfrm>
            <a:custGeom>
              <a:avLst/>
              <a:gdLst/>
              <a:ahLst/>
              <a:cxnLst/>
              <a:rect l="l" t="t" r="r" b="b"/>
              <a:pathLst>
                <a:path w="190970" h="31194">
                  <a:moveTo>
                    <a:pt x="0" y="0"/>
                  </a:moveTo>
                  <a:lnTo>
                    <a:pt x="190970" y="0"/>
                  </a:lnTo>
                  <a:lnTo>
                    <a:pt x="190970" y="31194"/>
                  </a:lnTo>
                  <a:lnTo>
                    <a:pt x="0" y="31194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90970" cy="6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 rot="-1070397">
            <a:off x="3496252" y="7114389"/>
            <a:ext cx="1670819" cy="1750447"/>
          </a:xfrm>
          <a:custGeom>
            <a:avLst/>
            <a:gdLst/>
            <a:ahLst/>
            <a:cxnLst/>
            <a:rect l="l" t="t" r="r" b="b"/>
            <a:pathLst>
              <a:path w="1670819" h="1750447">
                <a:moveTo>
                  <a:pt x="0" y="0"/>
                </a:moveTo>
                <a:lnTo>
                  <a:pt x="1670819" y="0"/>
                </a:lnTo>
                <a:lnTo>
                  <a:pt x="1670819" y="1750447"/>
                </a:lnTo>
                <a:lnTo>
                  <a:pt x="0" y="17504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916521" y="2161147"/>
            <a:ext cx="827070" cy="913890"/>
          </a:xfrm>
          <a:custGeom>
            <a:avLst/>
            <a:gdLst/>
            <a:ahLst/>
            <a:cxnLst/>
            <a:rect l="l" t="t" r="r" b="b"/>
            <a:pathLst>
              <a:path w="827070" h="913890">
                <a:moveTo>
                  <a:pt x="0" y="0"/>
                </a:moveTo>
                <a:lnTo>
                  <a:pt x="827070" y="0"/>
                </a:lnTo>
                <a:lnTo>
                  <a:pt x="827070" y="913890"/>
                </a:lnTo>
                <a:lnTo>
                  <a:pt x="0" y="9138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39968"/>
            <a:ext cx="402047" cy="379386"/>
          </a:xfrm>
          <a:custGeom>
            <a:avLst/>
            <a:gdLst/>
            <a:ahLst/>
            <a:cxnLst/>
            <a:rect l="l" t="t" r="r" b="b"/>
            <a:pathLst>
              <a:path w="402047" h="379386">
                <a:moveTo>
                  <a:pt x="0" y="0"/>
                </a:moveTo>
                <a:lnTo>
                  <a:pt x="402047" y="0"/>
                </a:lnTo>
                <a:lnTo>
                  <a:pt x="402047" y="379387"/>
                </a:lnTo>
                <a:lnTo>
                  <a:pt x="0" y="3793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4360291"/>
            <a:ext cx="8115300" cy="4870803"/>
            <a:chOff x="0" y="0"/>
            <a:chExt cx="6350000" cy="38112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3811270"/>
            </a:xfrm>
            <a:custGeom>
              <a:avLst/>
              <a:gdLst/>
              <a:ahLst/>
              <a:cxnLst/>
              <a:rect l="l" t="t" r="r" b="b"/>
              <a:pathLst>
                <a:path w="6350000" h="3811270">
                  <a:moveTo>
                    <a:pt x="1648460" y="0"/>
                  </a:moveTo>
                  <a:lnTo>
                    <a:pt x="5812790" y="0"/>
                  </a:lnTo>
                  <a:cubicBezTo>
                    <a:pt x="6109970" y="0"/>
                    <a:pt x="6350000" y="240030"/>
                    <a:pt x="6350000" y="537210"/>
                  </a:cubicBezTo>
                  <a:lnTo>
                    <a:pt x="6350000" y="2466340"/>
                  </a:lnTo>
                  <a:cubicBezTo>
                    <a:pt x="6350000" y="2763520"/>
                    <a:pt x="6109970" y="3003550"/>
                    <a:pt x="5812790" y="3003550"/>
                  </a:cubicBezTo>
                  <a:lnTo>
                    <a:pt x="4751070" y="3003550"/>
                  </a:lnTo>
                  <a:cubicBezTo>
                    <a:pt x="4587240" y="3003550"/>
                    <a:pt x="4431030" y="3078480"/>
                    <a:pt x="4329430" y="3208020"/>
                  </a:cubicBezTo>
                  <a:lnTo>
                    <a:pt x="4013200" y="3606800"/>
                  </a:lnTo>
                  <a:cubicBezTo>
                    <a:pt x="3911600" y="3735070"/>
                    <a:pt x="3756660" y="3811270"/>
                    <a:pt x="3591560" y="3811270"/>
                  </a:cubicBezTo>
                  <a:lnTo>
                    <a:pt x="537210" y="3811270"/>
                  </a:lnTo>
                  <a:cubicBezTo>
                    <a:pt x="240030" y="3811270"/>
                    <a:pt x="0" y="3571240"/>
                    <a:pt x="0" y="3274060"/>
                  </a:cubicBezTo>
                  <a:lnTo>
                    <a:pt x="0" y="1375410"/>
                  </a:lnTo>
                  <a:cubicBezTo>
                    <a:pt x="0" y="1206500"/>
                    <a:pt x="78740" y="1047750"/>
                    <a:pt x="213360" y="946150"/>
                  </a:cubicBezTo>
                  <a:lnTo>
                    <a:pt x="1324610" y="107950"/>
                  </a:lnTo>
                  <a:cubicBezTo>
                    <a:pt x="1417320" y="38100"/>
                    <a:pt x="1531620" y="0"/>
                    <a:pt x="1648460" y="0"/>
                  </a:cubicBezTo>
                  <a:close/>
                </a:path>
              </a:pathLst>
            </a:custGeom>
            <a:blipFill>
              <a:blip r:embed="rId3"/>
              <a:stretch>
                <a:fillRect t="-5606" b="-5606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028700" y="2801535"/>
            <a:ext cx="14531051" cy="1244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41"/>
              </a:lnSpc>
            </a:pPr>
            <a:r>
              <a:rPr lang="en-US" sz="13645" spc="-136">
                <a:solidFill>
                  <a:srgbClr val="5CE1E6"/>
                </a:solidFill>
                <a:latin typeface="RQND Pro Wide"/>
                <a:ea typeface="RQND Pro Wide"/>
                <a:cs typeface="RQND Pro Wide"/>
                <a:sym typeface="RQND Pro Wide"/>
              </a:rPr>
              <a:t>INTRODUCTION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879406" y="5293892"/>
            <a:ext cx="4074895" cy="3964408"/>
            <a:chOff x="0" y="0"/>
            <a:chExt cx="1073223" cy="10441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3223" cy="1044124"/>
            </a:xfrm>
            <a:custGeom>
              <a:avLst/>
              <a:gdLst/>
              <a:ahLst/>
              <a:cxnLst/>
              <a:rect l="l" t="t" r="r" b="b"/>
              <a:pathLst>
                <a:path w="1073223" h="1044124">
                  <a:moveTo>
                    <a:pt x="0" y="0"/>
                  </a:moveTo>
                  <a:lnTo>
                    <a:pt x="1073223" y="0"/>
                  </a:lnTo>
                  <a:lnTo>
                    <a:pt x="1073223" y="1044124"/>
                  </a:lnTo>
                  <a:lnTo>
                    <a:pt x="0" y="1044124"/>
                  </a:lnTo>
                  <a:close/>
                </a:path>
              </a:pathLst>
            </a:custGeom>
            <a:solidFill>
              <a:srgbClr val="0F006C"/>
            </a:solidFill>
            <a:ln w="9525" cap="sq">
              <a:solidFill>
                <a:srgbClr val="523AE7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73223" cy="108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79406" y="5293892"/>
            <a:ext cx="725087" cy="118438"/>
            <a:chOff x="0" y="0"/>
            <a:chExt cx="190970" cy="311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0970" cy="31194"/>
            </a:xfrm>
            <a:custGeom>
              <a:avLst/>
              <a:gdLst/>
              <a:ahLst/>
              <a:cxnLst/>
              <a:rect l="l" t="t" r="r" b="b"/>
              <a:pathLst>
                <a:path w="190970" h="31194">
                  <a:moveTo>
                    <a:pt x="0" y="0"/>
                  </a:moveTo>
                  <a:lnTo>
                    <a:pt x="190970" y="0"/>
                  </a:lnTo>
                  <a:lnTo>
                    <a:pt x="190970" y="31194"/>
                  </a:lnTo>
                  <a:lnTo>
                    <a:pt x="0" y="31194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0970" cy="6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72750" y="21596"/>
            <a:ext cx="5374002" cy="2864272"/>
            <a:chOff x="0" y="0"/>
            <a:chExt cx="1901508" cy="7543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01508" cy="754376"/>
            </a:xfrm>
            <a:custGeom>
              <a:avLst/>
              <a:gdLst/>
              <a:ahLst/>
              <a:cxnLst/>
              <a:rect l="l" t="t" r="r" b="b"/>
              <a:pathLst>
                <a:path w="1901508" h="754376">
                  <a:moveTo>
                    <a:pt x="0" y="0"/>
                  </a:moveTo>
                  <a:lnTo>
                    <a:pt x="1901508" y="0"/>
                  </a:lnTo>
                  <a:lnTo>
                    <a:pt x="1901508" y="754376"/>
                  </a:lnTo>
                  <a:lnTo>
                    <a:pt x="0" y="754376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01508" cy="7924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1028700" y="4355529"/>
            <a:ext cx="16230600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1028700" y="2271690"/>
            <a:ext cx="16230600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14427390" y="1028700"/>
            <a:ext cx="2789522" cy="2681428"/>
          </a:xfrm>
          <a:custGeom>
            <a:avLst/>
            <a:gdLst/>
            <a:ahLst/>
            <a:cxnLst/>
            <a:rect l="l" t="t" r="r" b="b"/>
            <a:pathLst>
              <a:path w="2789522" h="2681428">
                <a:moveTo>
                  <a:pt x="0" y="0"/>
                </a:moveTo>
                <a:lnTo>
                  <a:pt x="2789522" y="0"/>
                </a:lnTo>
                <a:lnTo>
                  <a:pt x="2789522" y="2681428"/>
                </a:lnTo>
                <a:lnTo>
                  <a:pt x="0" y="26814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 rot="-10800000">
            <a:off x="104204" y="7137944"/>
            <a:ext cx="2671176" cy="2093150"/>
            <a:chOff x="0" y="0"/>
            <a:chExt cx="1154822" cy="55128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54822" cy="551282"/>
            </a:xfrm>
            <a:custGeom>
              <a:avLst/>
              <a:gdLst/>
              <a:ahLst/>
              <a:cxnLst/>
              <a:rect l="l" t="t" r="r" b="b"/>
              <a:pathLst>
                <a:path w="1154822" h="551282">
                  <a:moveTo>
                    <a:pt x="0" y="0"/>
                  </a:moveTo>
                  <a:lnTo>
                    <a:pt x="1154822" y="0"/>
                  </a:lnTo>
                  <a:lnTo>
                    <a:pt x="1154822" y="551282"/>
                  </a:lnTo>
                  <a:lnTo>
                    <a:pt x="0" y="551282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154822" cy="589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28700" y="4360291"/>
            <a:ext cx="725087" cy="118438"/>
            <a:chOff x="0" y="0"/>
            <a:chExt cx="190970" cy="3119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0970" cy="31194"/>
            </a:xfrm>
            <a:custGeom>
              <a:avLst/>
              <a:gdLst/>
              <a:ahLst/>
              <a:cxnLst/>
              <a:rect l="l" t="t" r="r" b="b"/>
              <a:pathLst>
                <a:path w="190970" h="31194">
                  <a:moveTo>
                    <a:pt x="0" y="0"/>
                  </a:moveTo>
                  <a:lnTo>
                    <a:pt x="190970" y="0"/>
                  </a:lnTo>
                  <a:lnTo>
                    <a:pt x="190970" y="31194"/>
                  </a:lnTo>
                  <a:lnTo>
                    <a:pt x="0" y="31194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90970" cy="6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7114326" y="8782050"/>
            <a:ext cx="1179899" cy="476250"/>
          </a:xfrm>
          <a:custGeom>
            <a:avLst/>
            <a:gdLst/>
            <a:ahLst/>
            <a:cxnLst/>
            <a:rect l="l" t="t" r="r" b="b"/>
            <a:pathLst>
              <a:path w="1179899" h="476250">
                <a:moveTo>
                  <a:pt x="0" y="0"/>
                </a:moveTo>
                <a:lnTo>
                  <a:pt x="1179899" y="0"/>
                </a:lnTo>
                <a:lnTo>
                  <a:pt x="1179899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879406" y="1028700"/>
            <a:ext cx="1849588" cy="191685"/>
          </a:xfrm>
          <a:custGeom>
            <a:avLst/>
            <a:gdLst/>
            <a:ahLst/>
            <a:cxnLst/>
            <a:rect l="l" t="t" r="r" b="b"/>
            <a:pathLst>
              <a:path w="1849588" h="191685">
                <a:moveTo>
                  <a:pt x="0" y="0"/>
                </a:moveTo>
                <a:lnTo>
                  <a:pt x="1849587" y="0"/>
                </a:lnTo>
                <a:lnTo>
                  <a:pt x="1849587" y="191685"/>
                </a:lnTo>
                <a:lnTo>
                  <a:pt x="0" y="1916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0388914" y="5779667"/>
            <a:ext cx="1645096" cy="28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b="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Phishing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88914" y="6143625"/>
            <a:ext cx="3055877" cy="216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Phishing is a cyberattack method where attackers attempt to deceive users into revealing sensitive information or compromising security systems. Attacks have evolved from traditional email-based methods to include SMS, phone calls, and QR codes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878797" y="5303417"/>
            <a:ext cx="1645096" cy="288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b="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Goal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878797" y="5667375"/>
            <a:ext cx="2380503" cy="263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Modern phishing campaigns employ sophisticated techniques such as domain spoofing, email spoofing, URL manipulation, and generative AI to create convincing fraudulent communications that bypass traditional security filters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430747" y="6884143"/>
            <a:ext cx="2138822" cy="507602"/>
            <a:chOff x="0" y="0"/>
            <a:chExt cx="563311" cy="13369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63311" cy="133690"/>
            </a:xfrm>
            <a:custGeom>
              <a:avLst/>
              <a:gdLst/>
              <a:ahLst/>
              <a:cxnLst/>
              <a:rect l="l" t="t" r="r" b="b"/>
              <a:pathLst>
                <a:path w="563311" h="133690">
                  <a:moveTo>
                    <a:pt x="0" y="0"/>
                  </a:moveTo>
                  <a:lnTo>
                    <a:pt x="563311" y="0"/>
                  </a:lnTo>
                  <a:lnTo>
                    <a:pt x="563311" y="133690"/>
                  </a:lnTo>
                  <a:lnTo>
                    <a:pt x="0" y="133690"/>
                  </a:lnTo>
                  <a:close/>
                </a:path>
              </a:pathLst>
            </a:custGeom>
            <a:solidFill>
              <a:srgbClr val="0F006C"/>
            </a:solidFill>
            <a:ln w="9525" cap="sq">
              <a:solidFill>
                <a:srgbClr val="523AE7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563311" cy="171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1613594" y="7049288"/>
            <a:ext cx="1773128" cy="177313"/>
          </a:xfrm>
          <a:custGeom>
            <a:avLst/>
            <a:gdLst/>
            <a:ahLst/>
            <a:cxnLst/>
            <a:rect l="l" t="t" r="r" b="b"/>
            <a:pathLst>
              <a:path w="1773128" h="177313">
                <a:moveTo>
                  <a:pt x="0" y="0"/>
                </a:moveTo>
                <a:lnTo>
                  <a:pt x="1773128" y="0"/>
                </a:lnTo>
                <a:lnTo>
                  <a:pt x="1773128" y="177312"/>
                </a:lnTo>
                <a:lnTo>
                  <a:pt x="0" y="177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9280" y="-67459"/>
            <a:ext cx="8004291" cy="10421918"/>
            <a:chOff x="0" y="0"/>
            <a:chExt cx="122402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4021" cy="1593725"/>
            </a:xfrm>
            <a:custGeom>
              <a:avLst/>
              <a:gdLst/>
              <a:ahLst/>
              <a:cxnLst/>
              <a:rect l="l" t="t" r="r" b="b"/>
              <a:pathLst>
                <a:path w="1224021" h="1593725">
                  <a:moveTo>
                    <a:pt x="0" y="0"/>
                  </a:moveTo>
                  <a:lnTo>
                    <a:pt x="1224021" y="0"/>
                  </a:lnTo>
                  <a:lnTo>
                    <a:pt x="122402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57089" r="-3833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028700" y="1096227"/>
            <a:ext cx="402047" cy="379386"/>
          </a:xfrm>
          <a:custGeom>
            <a:avLst/>
            <a:gdLst/>
            <a:ahLst/>
            <a:cxnLst/>
            <a:rect l="l" t="t" r="r" b="b"/>
            <a:pathLst>
              <a:path w="402047" h="379386">
                <a:moveTo>
                  <a:pt x="0" y="0"/>
                </a:moveTo>
                <a:lnTo>
                  <a:pt x="402047" y="0"/>
                </a:lnTo>
                <a:lnTo>
                  <a:pt x="402047" y="379386"/>
                </a:lnTo>
                <a:lnTo>
                  <a:pt x="0" y="3793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379185" y="2016309"/>
            <a:ext cx="2908816" cy="2694773"/>
            <a:chOff x="0" y="0"/>
            <a:chExt cx="1326338" cy="7097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26338" cy="709734"/>
            </a:xfrm>
            <a:custGeom>
              <a:avLst/>
              <a:gdLst/>
              <a:ahLst/>
              <a:cxnLst/>
              <a:rect l="l" t="t" r="r" b="b"/>
              <a:pathLst>
                <a:path w="1326338" h="709734">
                  <a:moveTo>
                    <a:pt x="0" y="0"/>
                  </a:moveTo>
                  <a:lnTo>
                    <a:pt x="1326338" y="0"/>
                  </a:lnTo>
                  <a:lnTo>
                    <a:pt x="1326338" y="709734"/>
                  </a:lnTo>
                  <a:lnTo>
                    <a:pt x="0" y="709734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26338" cy="7478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56998" y="2597334"/>
            <a:ext cx="7558014" cy="2228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5"/>
              </a:lnSpc>
            </a:pPr>
            <a:r>
              <a:rPr lang="en-US" sz="9581" spc="-95">
                <a:solidFill>
                  <a:srgbClr val="5CE1E6"/>
                </a:solidFill>
                <a:latin typeface="RQND Pro Wide"/>
                <a:ea typeface="RQND Pro Wide"/>
                <a:cs typeface="RQND Pro Wide"/>
                <a:sym typeface="RQND Pro Wide"/>
              </a:rPr>
              <a:t>INDUSTRY </a:t>
            </a:r>
          </a:p>
          <a:p>
            <a:pPr algn="l">
              <a:lnSpc>
                <a:spcPts val="5365"/>
              </a:lnSpc>
            </a:pPr>
            <a:r>
              <a:rPr lang="en-US" sz="9581" spc="-95">
                <a:solidFill>
                  <a:srgbClr val="5CE1E6"/>
                </a:solidFill>
                <a:latin typeface="RQND Pro Wide"/>
                <a:ea typeface="RQND Pro Wide"/>
                <a:cs typeface="RQND Pro Wide"/>
                <a:sym typeface="RQND Pro Wide"/>
              </a:rPr>
              <a:t>GLOBAL</a:t>
            </a:r>
          </a:p>
          <a:p>
            <a:pPr algn="l">
              <a:lnSpc>
                <a:spcPts val="5365"/>
              </a:lnSpc>
            </a:pPr>
            <a:r>
              <a:rPr lang="en-US" sz="9581" spc="-95">
                <a:solidFill>
                  <a:srgbClr val="5CE1E6"/>
                </a:solidFill>
                <a:latin typeface="RQND Pro Wide"/>
                <a:ea typeface="RQND Pro Wide"/>
                <a:cs typeface="RQND Pro Wide"/>
                <a:sym typeface="RQND Pro Wide"/>
              </a:rPr>
              <a:t>STATISTICS</a:t>
            </a:r>
          </a:p>
        </p:txBody>
      </p:sp>
      <p:sp>
        <p:nvSpPr>
          <p:cNvPr id="9" name="AutoShape 9"/>
          <p:cNvSpPr/>
          <p:nvPr/>
        </p:nvSpPr>
        <p:spPr>
          <a:xfrm>
            <a:off x="9144000" y="1100989"/>
            <a:ext cx="8115300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9144000" y="5550201"/>
            <a:ext cx="8115300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 rot="431438">
            <a:off x="13405330" y="2369847"/>
            <a:ext cx="1337767" cy="1682726"/>
          </a:xfrm>
          <a:custGeom>
            <a:avLst/>
            <a:gdLst/>
            <a:ahLst/>
            <a:cxnLst/>
            <a:rect l="l" t="t" r="r" b="b"/>
            <a:pathLst>
              <a:path w="1337767" h="1682726">
                <a:moveTo>
                  <a:pt x="0" y="0"/>
                </a:moveTo>
                <a:lnTo>
                  <a:pt x="1337768" y="0"/>
                </a:lnTo>
                <a:lnTo>
                  <a:pt x="1337768" y="1682726"/>
                </a:lnTo>
                <a:lnTo>
                  <a:pt x="0" y="16827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9080987"/>
            <a:ext cx="1773128" cy="177313"/>
          </a:xfrm>
          <a:custGeom>
            <a:avLst/>
            <a:gdLst/>
            <a:ahLst/>
            <a:cxnLst/>
            <a:rect l="l" t="t" r="r" b="b"/>
            <a:pathLst>
              <a:path w="1773128" h="177313">
                <a:moveTo>
                  <a:pt x="0" y="0"/>
                </a:moveTo>
                <a:lnTo>
                  <a:pt x="1773128" y="0"/>
                </a:lnTo>
                <a:lnTo>
                  <a:pt x="1773128" y="177313"/>
                </a:lnTo>
                <a:lnTo>
                  <a:pt x="0" y="1773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 rot="-10800000">
            <a:off x="-89282" y="6707950"/>
            <a:ext cx="4761574" cy="2093150"/>
            <a:chOff x="0" y="0"/>
            <a:chExt cx="1654421" cy="55128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54421" cy="551282"/>
            </a:xfrm>
            <a:custGeom>
              <a:avLst/>
              <a:gdLst/>
              <a:ahLst/>
              <a:cxnLst/>
              <a:rect l="l" t="t" r="r" b="b"/>
              <a:pathLst>
                <a:path w="1654421" h="551282">
                  <a:moveTo>
                    <a:pt x="0" y="0"/>
                  </a:moveTo>
                  <a:lnTo>
                    <a:pt x="1654421" y="0"/>
                  </a:lnTo>
                  <a:lnTo>
                    <a:pt x="1654421" y="551282"/>
                  </a:lnTo>
                  <a:lnTo>
                    <a:pt x="0" y="551282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654421" cy="589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rot="1988424">
            <a:off x="6391822" y="4654259"/>
            <a:ext cx="1817194" cy="1910323"/>
          </a:xfrm>
          <a:custGeom>
            <a:avLst/>
            <a:gdLst/>
            <a:ahLst/>
            <a:cxnLst/>
            <a:rect l="l" t="t" r="r" b="b"/>
            <a:pathLst>
              <a:path w="1817194" h="1910323">
                <a:moveTo>
                  <a:pt x="0" y="0"/>
                </a:moveTo>
                <a:lnTo>
                  <a:pt x="1817194" y="0"/>
                </a:lnTo>
                <a:lnTo>
                  <a:pt x="1817194" y="1910323"/>
                </a:lnTo>
                <a:lnTo>
                  <a:pt x="0" y="19103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8583398" y="1630664"/>
          <a:ext cx="9296064" cy="7839075"/>
        </p:xfrm>
        <a:graphic>
          <a:graphicData uri="http://schemas.openxmlformats.org/drawingml/2006/table">
            <a:tbl>
              <a:tblPr/>
              <a:tblGrid>
                <a:gridCol w="2989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1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5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00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Industry Sector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Attack percentage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Key Details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9011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Financial Services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23.6%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Most targeted sector globally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4014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E-commerce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14.6%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Second most targeted industry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017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Healthcare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 priority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Primary hacking technique for sector penetration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9011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Known phishing websites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611,877+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Currently active on the internet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74014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Kaspersky blocked attempts (2025)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554 million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Fraudulent link access attempts blocked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8878914"/>
            <a:ext cx="402047" cy="379386"/>
          </a:xfrm>
          <a:custGeom>
            <a:avLst/>
            <a:gdLst/>
            <a:ahLst/>
            <a:cxnLst/>
            <a:rect l="l" t="t" r="r" b="b"/>
            <a:pathLst>
              <a:path w="402047" h="379386">
                <a:moveTo>
                  <a:pt x="0" y="0"/>
                </a:moveTo>
                <a:lnTo>
                  <a:pt x="402047" y="0"/>
                </a:lnTo>
                <a:lnTo>
                  <a:pt x="402047" y="379386"/>
                </a:lnTo>
                <a:lnTo>
                  <a:pt x="0" y="3793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3273758"/>
            <a:ext cx="16230600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1455793" y="1848995"/>
            <a:ext cx="6832207" cy="2694773"/>
            <a:chOff x="0" y="0"/>
            <a:chExt cx="2339679" cy="7097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39679" cy="709734"/>
            </a:xfrm>
            <a:custGeom>
              <a:avLst/>
              <a:gdLst/>
              <a:ahLst/>
              <a:cxnLst/>
              <a:rect l="l" t="t" r="r" b="b"/>
              <a:pathLst>
                <a:path w="2339679" h="709734">
                  <a:moveTo>
                    <a:pt x="0" y="0"/>
                  </a:moveTo>
                  <a:lnTo>
                    <a:pt x="2339679" y="0"/>
                  </a:lnTo>
                  <a:lnTo>
                    <a:pt x="2339679" y="709734"/>
                  </a:lnTo>
                  <a:lnTo>
                    <a:pt x="0" y="709734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339679" cy="7478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950135" y="812920"/>
            <a:ext cx="14370720" cy="288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9529" spc="-95">
                <a:solidFill>
                  <a:srgbClr val="5CE1E6"/>
                </a:solidFill>
                <a:latin typeface="RQND Pro Wide"/>
                <a:ea typeface="RQND Pro Wide"/>
                <a:cs typeface="RQND Pro Wide"/>
                <a:sym typeface="RQND Pro Wide"/>
              </a:rPr>
              <a:t>RECOGNIZING PHISHING EMAILS AND FAKE WEBSITES</a:t>
            </a:r>
          </a:p>
          <a:p>
            <a:pPr algn="l">
              <a:lnSpc>
                <a:spcPts val="5336"/>
              </a:lnSpc>
            </a:pPr>
            <a:endParaRPr lang="en-US" sz="9529" spc="-95">
              <a:solidFill>
                <a:srgbClr val="5CE1E6"/>
              </a:solidFill>
              <a:latin typeface="RQND Pro Wide"/>
              <a:ea typeface="RQND Pro Wide"/>
              <a:cs typeface="RQND Pro Wide"/>
              <a:sym typeface="RQND Pro Wide"/>
            </a:endParaRPr>
          </a:p>
        </p:txBody>
      </p:sp>
      <p:sp>
        <p:nvSpPr>
          <p:cNvPr id="8" name="Freeform 8"/>
          <p:cNvSpPr/>
          <p:nvPr/>
        </p:nvSpPr>
        <p:spPr>
          <a:xfrm flipH="1" flipV="1">
            <a:off x="16943169" y="1028700"/>
            <a:ext cx="316131" cy="245432"/>
          </a:xfrm>
          <a:custGeom>
            <a:avLst/>
            <a:gdLst/>
            <a:ahLst/>
            <a:cxnLst/>
            <a:rect l="l" t="t" r="r" b="b"/>
            <a:pathLst>
              <a:path w="316131" h="245432">
                <a:moveTo>
                  <a:pt x="316131" y="245432"/>
                </a:moveTo>
                <a:lnTo>
                  <a:pt x="0" y="245432"/>
                </a:lnTo>
                <a:lnTo>
                  <a:pt x="0" y="0"/>
                </a:lnTo>
                <a:lnTo>
                  <a:pt x="316131" y="0"/>
                </a:lnTo>
                <a:lnTo>
                  <a:pt x="316131" y="2454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1455793" y="4003995"/>
            <a:ext cx="5803507" cy="5246370"/>
            <a:chOff x="0" y="0"/>
            <a:chExt cx="6350000" cy="5740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1270" cy="5741670"/>
            </a:xfrm>
            <a:custGeom>
              <a:avLst/>
              <a:gdLst/>
              <a:ahLst/>
              <a:cxnLst/>
              <a:rect l="l" t="t" r="r" b="b"/>
              <a:pathLst>
                <a:path w="6351270" h="57416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4"/>
              <a:stretch>
                <a:fillRect t="-21574" b="-44455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556423" y="3851710"/>
            <a:ext cx="4329368" cy="28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b="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Urgent call to action or threats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11160" y="4107222"/>
            <a:ext cx="305587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Hover over links to verify they match the claimed sender's legitimate domain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28700" y="8228819"/>
            <a:ext cx="10427093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10111418" y="6134219"/>
            <a:ext cx="2913206" cy="3124081"/>
          </a:xfrm>
          <a:custGeom>
            <a:avLst/>
            <a:gdLst/>
            <a:ahLst/>
            <a:cxnLst/>
            <a:rect l="l" t="t" r="r" b="b"/>
            <a:pathLst>
              <a:path w="2913206" h="3124081">
                <a:moveTo>
                  <a:pt x="0" y="0"/>
                </a:moveTo>
                <a:lnTo>
                  <a:pt x="2913206" y="0"/>
                </a:lnTo>
                <a:lnTo>
                  <a:pt x="2913206" y="3124081"/>
                </a:lnTo>
                <a:lnTo>
                  <a:pt x="0" y="31240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 rot="-10800000">
            <a:off x="90805" y="4245333"/>
            <a:ext cx="3055878" cy="1464091"/>
            <a:chOff x="0" y="0"/>
            <a:chExt cx="1326338" cy="3856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26338" cy="385604"/>
            </a:xfrm>
            <a:custGeom>
              <a:avLst/>
              <a:gdLst/>
              <a:ahLst/>
              <a:cxnLst/>
              <a:rect l="l" t="t" r="r" b="b"/>
              <a:pathLst>
                <a:path w="1326338" h="385604">
                  <a:moveTo>
                    <a:pt x="0" y="0"/>
                  </a:moveTo>
                  <a:lnTo>
                    <a:pt x="1326338" y="0"/>
                  </a:lnTo>
                  <a:lnTo>
                    <a:pt x="1326338" y="385604"/>
                  </a:lnTo>
                  <a:lnTo>
                    <a:pt x="0" y="385604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26338" cy="423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3273758"/>
            <a:ext cx="725087" cy="118438"/>
            <a:chOff x="0" y="0"/>
            <a:chExt cx="190970" cy="311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0970" cy="31194"/>
            </a:xfrm>
            <a:custGeom>
              <a:avLst/>
              <a:gdLst/>
              <a:ahLst/>
              <a:cxnLst/>
              <a:rect l="l" t="t" r="r" b="b"/>
              <a:pathLst>
                <a:path w="190970" h="31194">
                  <a:moveTo>
                    <a:pt x="0" y="0"/>
                  </a:moveTo>
                  <a:lnTo>
                    <a:pt x="190970" y="0"/>
                  </a:lnTo>
                  <a:lnTo>
                    <a:pt x="190970" y="31194"/>
                  </a:lnTo>
                  <a:lnTo>
                    <a:pt x="0" y="31194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90970" cy="6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 flipH="1">
            <a:off x="16943169" y="9004933"/>
            <a:ext cx="316131" cy="245432"/>
          </a:xfrm>
          <a:custGeom>
            <a:avLst/>
            <a:gdLst/>
            <a:ahLst/>
            <a:cxnLst/>
            <a:rect l="l" t="t" r="r" b="b"/>
            <a:pathLst>
              <a:path w="316131" h="245432">
                <a:moveTo>
                  <a:pt x="316131" y="0"/>
                </a:moveTo>
                <a:lnTo>
                  <a:pt x="0" y="0"/>
                </a:lnTo>
                <a:lnTo>
                  <a:pt x="0" y="245432"/>
                </a:lnTo>
                <a:lnTo>
                  <a:pt x="316131" y="245432"/>
                </a:lnTo>
                <a:lnTo>
                  <a:pt x="31613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660238" y="8868537"/>
            <a:ext cx="1826439" cy="38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800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FRADEL AND SPIES CO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18745" y="4226284"/>
            <a:ext cx="3055877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Messages demanding immediate clicks or claiming account compromise create false urgency, a common phishing tactic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11160" y="3851710"/>
            <a:ext cx="3055877" cy="28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b="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Mismatched URLs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5120478" y="7574742"/>
            <a:ext cx="2138822" cy="507602"/>
            <a:chOff x="0" y="0"/>
            <a:chExt cx="563311" cy="13369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63311" cy="133690"/>
            </a:xfrm>
            <a:custGeom>
              <a:avLst/>
              <a:gdLst/>
              <a:ahLst/>
              <a:cxnLst/>
              <a:rect l="l" t="t" r="r" b="b"/>
              <a:pathLst>
                <a:path w="563311" h="133690">
                  <a:moveTo>
                    <a:pt x="0" y="0"/>
                  </a:moveTo>
                  <a:lnTo>
                    <a:pt x="563311" y="0"/>
                  </a:lnTo>
                  <a:lnTo>
                    <a:pt x="563311" y="133690"/>
                  </a:lnTo>
                  <a:lnTo>
                    <a:pt x="0" y="133690"/>
                  </a:lnTo>
                  <a:close/>
                </a:path>
              </a:pathLst>
            </a:custGeom>
            <a:solidFill>
              <a:srgbClr val="0F006C"/>
            </a:solidFill>
            <a:ln w="9525" cap="sq">
              <a:solidFill>
                <a:srgbClr val="523AE7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563311" cy="171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5303325" y="7739887"/>
            <a:ext cx="1773128" cy="177313"/>
          </a:xfrm>
          <a:custGeom>
            <a:avLst/>
            <a:gdLst/>
            <a:ahLst/>
            <a:cxnLst/>
            <a:rect l="l" t="t" r="r" b="b"/>
            <a:pathLst>
              <a:path w="1773128" h="177313">
                <a:moveTo>
                  <a:pt x="0" y="0"/>
                </a:moveTo>
                <a:lnTo>
                  <a:pt x="1773128" y="0"/>
                </a:lnTo>
                <a:lnTo>
                  <a:pt x="1773128" y="177313"/>
                </a:lnTo>
                <a:lnTo>
                  <a:pt x="0" y="1773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276287" y="9066615"/>
            <a:ext cx="1849588" cy="191685"/>
          </a:xfrm>
          <a:custGeom>
            <a:avLst/>
            <a:gdLst/>
            <a:ahLst/>
            <a:cxnLst/>
            <a:rect l="l" t="t" r="r" b="b"/>
            <a:pathLst>
              <a:path w="1849588" h="191685">
                <a:moveTo>
                  <a:pt x="0" y="0"/>
                </a:moveTo>
                <a:lnTo>
                  <a:pt x="1849588" y="0"/>
                </a:lnTo>
                <a:lnTo>
                  <a:pt x="1849588" y="191685"/>
                </a:lnTo>
                <a:lnTo>
                  <a:pt x="0" y="1916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1988424">
            <a:off x="9816292" y="2627211"/>
            <a:ext cx="1546741" cy="1626009"/>
          </a:xfrm>
          <a:custGeom>
            <a:avLst/>
            <a:gdLst/>
            <a:ahLst/>
            <a:cxnLst/>
            <a:rect l="l" t="t" r="r" b="b"/>
            <a:pathLst>
              <a:path w="1546741" h="1626009">
                <a:moveTo>
                  <a:pt x="0" y="0"/>
                </a:moveTo>
                <a:lnTo>
                  <a:pt x="1546741" y="0"/>
                </a:lnTo>
                <a:lnTo>
                  <a:pt x="1546741" y="1626010"/>
                </a:lnTo>
                <a:lnTo>
                  <a:pt x="0" y="16260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753787" y="3148757"/>
            <a:ext cx="6668848" cy="842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Key Red Flags in Phishing Emails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299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556423" y="5588359"/>
            <a:ext cx="4329368" cy="28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b="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Suspicious sender information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56423" y="6001109"/>
            <a:ext cx="3055877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Emails from unknown senders or those flagged by Outlook/Teams as new senders warrant careful examination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11160" y="5147035"/>
            <a:ext cx="4329368" cy="28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b="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Requests for sensitive data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11160" y="5466326"/>
            <a:ext cx="3055877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Legitimate organizations never request passwords, credit card numbers, or personal information via email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8878914"/>
            <a:ext cx="402047" cy="379386"/>
          </a:xfrm>
          <a:custGeom>
            <a:avLst/>
            <a:gdLst/>
            <a:ahLst/>
            <a:cxnLst/>
            <a:rect l="l" t="t" r="r" b="b"/>
            <a:pathLst>
              <a:path w="402047" h="379386">
                <a:moveTo>
                  <a:pt x="0" y="0"/>
                </a:moveTo>
                <a:lnTo>
                  <a:pt x="402047" y="0"/>
                </a:lnTo>
                <a:lnTo>
                  <a:pt x="402047" y="379386"/>
                </a:lnTo>
                <a:lnTo>
                  <a:pt x="0" y="3793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3273758"/>
            <a:ext cx="16230600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1455793" y="1848995"/>
            <a:ext cx="6795763" cy="2694773"/>
            <a:chOff x="0" y="0"/>
            <a:chExt cx="2339679" cy="7097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39679" cy="709734"/>
            </a:xfrm>
            <a:custGeom>
              <a:avLst/>
              <a:gdLst/>
              <a:ahLst/>
              <a:cxnLst/>
              <a:rect l="l" t="t" r="r" b="b"/>
              <a:pathLst>
                <a:path w="2339679" h="709734">
                  <a:moveTo>
                    <a:pt x="0" y="0"/>
                  </a:moveTo>
                  <a:lnTo>
                    <a:pt x="2339679" y="0"/>
                  </a:lnTo>
                  <a:lnTo>
                    <a:pt x="2339679" y="709734"/>
                  </a:lnTo>
                  <a:lnTo>
                    <a:pt x="0" y="709734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339679" cy="7478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57492" y="831970"/>
            <a:ext cx="14963363" cy="301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6"/>
              </a:lnSpc>
            </a:pPr>
            <a:r>
              <a:rPr lang="en-US" sz="9922" spc="-99">
                <a:solidFill>
                  <a:srgbClr val="5CE1E6"/>
                </a:solidFill>
                <a:latin typeface="RQND Pro Wide"/>
                <a:ea typeface="RQND Pro Wide"/>
                <a:cs typeface="RQND Pro Wide"/>
                <a:sym typeface="RQND Pro Wide"/>
              </a:rPr>
              <a:t>SOCIAL ENGINEERING TACTICS AND ATTACK VECTORS</a:t>
            </a:r>
          </a:p>
          <a:p>
            <a:pPr algn="l">
              <a:lnSpc>
                <a:spcPts val="5556"/>
              </a:lnSpc>
            </a:pPr>
            <a:endParaRPr lang="en-US" sz="9922" spc="-99">
              <a:solidFill>
                <a:srgbClr val="5CE1E6"/>
              </a:solidFill>
              <a:latin typeface="RQND Pro Wide"/>
              <a:ea typeface="RQND Pro Wide"/>
              <a:cs typeface="RQND Pro Wide"/>
              <a:sym typeface="RQND Pro Wide"/>
            </a:endParaRPr>
          </a:p>
        </p:txBody>
      </p:sp>
      <p:sp>
        <p:nvSpPr>
          <p:cNvPr id="8" name="Freeform 8"/>
          <p:cNvSpPr/>
          <p:nvPr/>
        </p:nvSpPr>
        <p:spPr>
          <a:xfrm flipH="1" flipV="1">
            <a:off x="16943169" y="1028700"/>
            <a:ext cx="316131" cy="245432"/>
          </a:xfrm>
          <a:custGeom>
            <a:avLst/>
            <a:gdLst/>
            <a:ahLst/>
            <a:cxnLst/>
            <a:rect l="l" t="t" r="r" b="b"/>
            <a:pathLst>
              <a:path w="316131" h="245432">
                <a:moveTo>
                  <a:pt x="316131" y="245432"/>
                </a:moveTo>
                <a:lnTo>
                  <a:pt x="0" y="245432"/>
                </a:lnTo>
                <a:lnTo>
                  <a:pt x="0" y="0"/>
                </a:lnTo>
                <a:lnTo>
                  <a:pt x="316131" y="0"/>
                </a:lnTo>
                <a:lnTo>
                  <a:pt x="316131" y="2454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1455793" y="4003995"/>
            <a:ext cx="5803507" cy="5246370"/>
            <a:chOff x="0" y="0"/>
            <a:chExt cx="6350000" cy="5740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1270" cy="5741670"/>
            </a:xfrm>
            <a:custGeom>
              <a:avLst/>
              <a:gdLst/>
              <a:ahLst/>
              <a:cxnLst/>
              <a:rect l="l" t="t" r="r" b="b"/>
              <a:pathLst>
                <a:path w="6351270" h="57416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4"/>
              <a:stretch>
                <a:fillRect t="-21574" b="-44455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556423" y="3851710"/>
            <a:ext cx="4329368" cy="28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b="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Account takeover campaigns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11160" y="4107222"/>
            <a:ext cx="3695641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Synthetic video/audio of executives convincing employees to transfer funds (Hong Kong case: $25 million unauthorized transfer)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28700" y="8228819"/>
            <a:ext cx="10427093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10111418" y="6134219"/>
            <a:ext cx="2913206" cy="3124081"/>
          </a:xfrm>
          <a:custGeom>
            <a:avLst/>
            <a:gdLst/>
            <a:ahLst/>
            <a:cxnLst/>
            <a:rect l="l" t="t" r="r" b="b"/>
            <a:pathLst>
              <a:path w="2913206" h="3124081">
                <a:moveTo>
                  <a:pt x="0" y="0"/>
                </a:moveTo>
                <a:lnTo>
                  <a:pt x="2913206" y="0"/>
                </a:lnTo>
                <a:lnTo>
                  <a:pt x="2913206" y="3124081"/>
                </a:lnTo>
                <a:lnTo>
                  <a:pt x="0" y="31240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 rot="-10800000">
            <a:off x="-17794" y="4245333"/>
            <a:ext cx="3164477" cy="1464091"/>
            <a:chOff x="0" y="0"/>
            <a:chExt cx="1326338" cy="3856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26338" cy="385604"/>
            </a:xfrm>
            <a:custGeom>
              <a:avLst/>
              <a:gdLst/>
              <a:ahLst/>
              <a:cxnLst/>
              <a:rect l="l" t="t" r="r" b="b"/>
              <a:pathLst>
                <a:path w="1326338" h="385604">
                  <a:moveTo>
                    <a:pt x="0" y="0"/>
                  </a:moveTo>
                  <a:lnTo>
                    <a:pt x="1326338" y="0"/>
                  </a:lnTo>
                  <a:lnTo>
                    <a:pt x="1326338" y="385604"/>
                  </a:lnTo>
                  <a:lnTo>
                    <a:pt x="0" y="385604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26338" cy="423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3273758"/>
            <a:ext cx="725087" cy="118438"/>
            <a:chOff x="0" y="0"/>
            <a:chExt cx="190970" cy="311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0970" cy="31194"/>
            </a:xfrm>
            <a:custGeom>
              <a:avLst/>
              <a:gdLst/>
              <a:ahLst/>
              <a:cxnLst/>
              <a:rect l="l" t="t" r="r" b="b"/>
              <a:pathLst>
                <a:path w="190970" h="31194">
                  <a:moveTo>
                    <a:pt x="0" y="0"/>
                  </a:moveTo>
                  <a:lnTo>
                    <a:pt x="190970" y="0"/>
                  </a:lnTo>
                  <a:lnTo>
                    <a:pt x="190970" y="31194"/>
                  </a:lnTo>
                  <a:lnTo>
                    <a:pt x="0" y="31194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90970" cy="6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 flipH="1">
            <a:off x="16943169" y="9004933"/>
            <a:ext cx="316131" cy="245432"/>
          </a:xfrm>
          <a:custGeom>
            <a:avLst/>
            <a:gdLst/>
            <a:ahLst/>
            <a:cxnLst/>
            <a:rect l="l" t="t" r="r" b="b"/>
            <a:pathLst>
              <a:path w="316131" h="245432">
                <a:moveTo>
                  <a:pt x="316131" y="0"/>
                </a:moveTo>
                <a:lnTo>
                  <a:pt x="0" y="0"/>
                </a:lnTo>
                <a:lnTo>
                  <a:pt x="0" y="245432"/>
                </a:lnTo>
                <a:lnTo>
                  <a:pt x="316131" y="245432"/>
                </a:lnTo>
                <a:lnTo>
                  <a:pt x="31613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660238" y="8868537"/>
            <a:ext cx="1826439" cy="38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800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FRADEL AND SPIES CO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18745" y="4226284"/>
            <a:ext cx="3055877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Credentials stolen to gain unauthorized access to corporate systems and sensitive data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11160" y="3851710"/>
            <a:ext cx="3800258" cy="28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b="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AI-generated deepfakes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5120478" y="7574742"/>
            <a:ext cx="2138822" cy="507602"/>
            <a:chOff x="0" y="0"/>
            <a:chExt cx="563311" cy="13369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63311" cy="133690"/>
            </a:xfrm>
            <a:custGeom>
              <a:avLst/>
              <a:gdLst/>
              <a:ahLst/>
              <a:cxnLst/>
              <a:rect l="l" t="t" r="r" b="b"/>
              <a:pathLst>
                <a:path w="563311" h="133690">
                  <a:moveTo>
                    <a:pt x="0" y="0"/>
                  </a:moveTo>
                  <a:lnTo>
                    <a:pt x="563311" y="0"/>
                  </a:lnTo>
                  <a:lnTo>
                    <a:pt x="563311" y="133690"/>
                  </a:lnTo>
                  <a:lnTo>
                    <a:pt x="0" y="133690"/>
                  </a:lnTo>
                  <a:close/>
                </a:path>
              </a:pathLst>
            </a:custGeom>
            <a:solidFill>
              <a:srgbClr val="0F006C"/>
            </a:solidFill>
            <a:ln w="9525" cap="sq">
              <a:solidFill>
                <a:srgbClr val="523AE7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563311" cy="171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5303325" y="7739887"/>
            <a:ext cx="1773128" cy="177313"/>
          </a:xfrm>
          <a:custGeom>
            <a:avLst/>
            <a:gdLst/>
            <a:ahLst/>
            <a:cxnLst/>
            <a:rect l="l" t="t" r="r" b="b"/>
            <a:pathLst>
              <a:path w="1773128" h="177313">
                <a:moveTo>
                  <a:pt x="0" y="0"/>
                </a:moveTo>
                <a:lnTo>
                  <a:pt x="1773128" y="0"/>
                </a:lnTo>
                <a:lnTo>
                  <a:pt x="1773128" y="177313"/>
                </a:lnTo>
                <a:lnTo>
                  <a:pt x="0" y="1773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276287" y="9066615"/>
            <a:ext cx="1849588" cy="191685"/>
          </a:xfrm>
          <a:custGeom>
            <a:avLst/>
            <a:gdLst/>
            <a:ahLst/>
            <a:cxnLst/>
            <a:rect l="l" t="t" r="r" b="b"/>
            <a:pathLst>
              <a:path w="1849588" h="191685">
                <a:moveTo>
                  <a:pt x="0" y="0"/>
                </a:moveTo>
                <a:lnTo>
                  <a:pt x="1849588" y="0"/>
                </a:lnTo>
                <a:lnTo>
                  <a:pt x="1849588" y="191685"/>
                </a:lnTo>
                <a:lnTo>
                  <a:pt x="0" y="1916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1988424">
            <a:off x="9816292" y="2627211"/>
            <a:ext cx="1546741" cy="1626009"/>
          </a:xfrm>
          <a:custGeom>
            <a:avLst/>
            <a:gdLst/>
            <a:ahLst/>
            <a:cxnLst/>
            <a:rect l="l" t="t" r="r" b="b"/>
            <a:pathLst>
              <a:path w="1546741" h="1626009">
                <a:moveTo>
                  <a:pt x="0" y="0"/>
                </a:moveTo>
                <a:lnTo>
                  <a:pt x="1546741" y="0"/>
                </a:lnTo>
                <a:lnTo>
                  <a:pt x="1546741" y="1626010"/>
                </a:lnTo>
                <a:lnTo>
                  <a:pt x="0" y="16260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753787" y="3148757"/>
            <a:ext cx="6668848" cy="842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Modern Attack Methodologies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299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556423" y="5588359"/>
            <a:ext cx="4329368" cy="28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b="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Business Email Compromise (BEC)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56423" y="6001109"/>
            <a:ext cx="305587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Targeted attacks impersonating executives to authorize fraudulent transactions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11160" y="5147035"/>
            <a:ext cx="4329368" cy="28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b="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Supply chain targeting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11160" y="5466326"/>
            <a:ext cx="3055877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Attacks exploiting vendor relationships and trusted infrastructure to bypass security filters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9280" y="-67459"/>
            <a:ext cx="8004291" cy="10421918"/>
            <a:chOff x="0" y="0"/>
            <a:chExt cx="122402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4021" cy="1593725"/>
            </a:xfrm>
            <a:custGeom>
              <a:avLst/>
              <a:gdLst/>
              <a:ahLst/>
              <a:cxnLst/>
              <a:rect l="l" t="t" r="r" b="b"/>
              <a:pathLst>
                <a:path w="1224021" h="1593725">
                  <a:moveTo>
                    <a:pt x="0" y="0"/>
                  </a:moveTo>
                  <a:lnTo>
                    <a:pt x="1224021" y="0"/>
                  </a:lnTo>
                  <a:lnTo>
                    <a:pt x="122402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57089" r="-3833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028700" y="1096227"/>
            <a:ext cx="402047" cy="379386"/>
          </a:xfrm>
          <a:custGeom>
            <a:avLst/>
            <a:gdLst/>
            <a:ahLst/>
            <a:cxnLst/>
            <a:rect l="l" t="t" r="r" b="b"/>
            <a:pathLst>
              <a:path w="402047" h="379386">
                <a:moveTo>
                  <a:pt x="0" y="0"/>
                </a:moveTo>
                <a:lnTo>
                  <a:pt x="402047" y="0"/>
                </a:lnTo>
                <a:lnTo>
                  <a:pt x="402047" y="379386"/>
                </a:lnTo>
                <a:lnTo>
                  <a:pt x="0" y="3793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379185" y="2016309"/>
            <a:ext cx="2908816" cy="2694773"/>
            <a:chOff x="0" y="0"/>
            <a:chExt cx="1326338" cy="7097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26338" cy="709734"/>
            </a:xfrm>
            <a:custGeom>
              <a:avLst/>
              <a:gdLst/>
              <a:ahLst/>
              <a:cxnLst/>
              <a:rect l="l" t="t" r="r" b="b"/>
              <a:pathLst>
                <a:path w="1326338" h="709734">
                  <a:moveTo>
                    <a:pt x="0" y="0"/>
                  </a:moveTo>
                  <a:lnTo>
                    <a:pt x="1326338" y="0"/>
                  </a:lnTo>
                  <a:lnTo>
                    <a:pt x="1326338" y="709734"/>
                  </a:lnTo>
                  <a:lnTo>
                    <a:pt x="0" y="709734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26338" cy="7478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56998" y="2597334"/>
            <a:ext cx="7558014" cy="358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5"/>
              </a:lnSpc>
            </a:pPr>
            <a:r>
              <a:rPr lang="en-US" sz="9581" spc="-95">
                <a:solidFill>
                  <a:srgbClr val="5CE1E6"/>
                </a:solidFill>
                <a:latin typeface="RQND Pro Wide"/>
                <a:ea typeface="RQND Pro Wide"/>
                <a:cs typeface="RQND Pro Wide"/>
                <a:sym typeface="RQND Pro Wide"/>
              </a:rPr>
              <a:t>EMERGING ATTACK TRENDS IN 2025</a:t>
            </a:r>
          </a:p>
          <a:p>
            <a:pPr algn="l">
              <a:lnSpc>
                <a:spcPts val="5365"/>
              </a:lnSpc>
            </a:pPr>
            <a:endParaRPr lang="en-US" sz="9581" spc="-95">
              <a:solidFill>
                <a:srgbClr val="5CE1E6"/>
              </a:solidFill>
              <a:latin typeface="RQND Pro Wide"/>
              <a:ea typeface="RQND Pro Wide"/>
              <a:cs typeface="RQND Pro Wide"/>
              <a:sym typeface="RQND Pro Wide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9144000" y="1100989"/>
            <a:ext cx="8115300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9144000" y="5550201"/>
            <a:ext cx="8115300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 rot="431438">
            <a:off x="13405330" y="2369847"/>
            <a:ext cx="1337767" cy="1682726"/>
          </a:xfrm>
          <a:custGeom>
            <a:avLst/>
            <a:gdLst/>
            <a:ahLst/>
            <a:cxnLst/>
            <a:rect l="l" t="t" r="r" b="b"/>
            <a:pathLst>
              <a:path w="1337767" h="1682726">
                <a:moveTo>
                  <a:pt x="0" y="0"/>
                </a:moveTo>
                <a:lnTo>
                  <a:pt x="1337768" y="0"/>
                </a:lnTo>
                <a:lnTo>
                  <a:pt x="1337768" y="1682726"/>
                </a:lnTo>
                <a:lnTo>
                  <a:pt x="0" y="16827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9080987"/>
            <a:ext cx="1773128" cy="177313"/>
          </a:xfrm>
          <a:custGeom>
            <a:avLst/>
            <a:gdLst/>
            <a:ahLst/>
            <a:cxnLst/>
            <a:rect l="l" t="t" r="r" b="b"/>
            <a:pathLst>
              <a:path w="1773128" h="177313">
                <a:moveTo>
                  <a:pt x="0" y="0"/>
                </a:moveTo>
                <a:lnTo>
                  <a:pt x="1773128" y="0"/>
                </a:lnTo>
                <a:lnTo>
                  <a:pt x="1773128" y="177313"/>
                </a:lnTo>
                <a:lnTo>
                  <a:pt x="0" y="1773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 rot="-10800000">
            <a:off x="-89282" y="6638925"/>
            <a:ext cx="4761574" cy="2093150"/>
            <a:chOff x="0" y="0"/>
            <a:chExt cx="1654421" cy="55128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54421" cy="551282"/>
            </a:xfrm>
            <a:custGeom>
              <a:avLst/>
              <a:gdLst/>
              <a:ahLst/>
              <a:cxnLst/>
              <a:rect l="l" t="t" r="r" b="b"/>
              <a:pathLst>
                <a:path w="1654421" h="551282">
                  <a:moveTo>
                    <a:pt x="0" y="0"/>
                  </a:moveTo>
                  <a:lnTo>
                    <a:pt x="1654421" y="0"/>
                  </a:lnTo>
                  <a:lnTo>
                    <a:pt x="1654421" y="551282"/>
                  </a:lnTo>
                  <a:lnTo>
                    <a:pt x="0" y="551282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654421" cy="589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rot="1988424">
            <a:off x="6391822" y="4654259"/>
            <a:ext cx="1817194" cy="1910323"/>
          </a:xfrm>
          <a:custGeom>
            <a:avLst/>
            <a:gdLst/>
            <a:ahLst/>
            <a:cxnLst/>
            <a:rect l="l" t="t" r="r" b="b"/>
            <a:pathLst>
              <a:path w="1817194" h="1910323">
                <a:moveTo>
                  <a:pt x="0" y="0"/>
                </a:moveTo>
                <a:lnTo>
                  <a:pt x="1817194" y="0"/>
                </a:lnTo>
                <a:lnTo>
                  <a:pt x="1817194" y="1910323"/>
                </a:lnTo>
                <a:lnTo>
                  <a:pt x="0" y="19103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7708958" y="403190"/>
          <a:ext cx="10579042" cy="9480620"/>
        </p:xfrm>
        <a:graphic>
          <a:graphicData uri="http://schemas.openxmlformats.org/drawingml/2006/table">
            <a:tbl>
              <a:tblPr/>
              <a:tblGrid>
                <a:gridCol w="2401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0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0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6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93856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Attack Evolution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Previous Approach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Impact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Current Approach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6124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Attack Scale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Mass campaigns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Higher success rates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Targeted precision attacks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6124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Technology Integration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Text-based deception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More convincing and harder to detect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AI deepfakes + biometric theft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8392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Regional Customization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Generic templates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Increased relevance and credibility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Localized fraud schemes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6124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Platform Diversity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Email-focused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Broader attack surface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Messaging apps, QR codes, voice calls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49619"/>
            <a:ext cx="402047" cy="379386"/>
          </a:xfrm>
          <a:custGeom>
            <a:avLst/>
            <a:gdLst/>
            <a:ahLst/>
            <a:cxnLst/>
            <a:rect l="l" t="t" r="r" b="b"/>
            <a:pathLst>
              <a:path w="402047" h="379386">
                <a:moveTo>
                  <a:pt x="0" y="0"/>
                </a:moveTo>
                <a:lnTo>
                  <a:pt x="402047" y="0"/>
                </a:lnTo>
                <a:lnTo>
                  <a:pt x="402047" y="379386"/>
                </a:lnTo>
                <a:lnTo>
                  <a:pt x="0" y="3793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228599" y="2377621"/>
            <a:ext cx="5991116" cy="1473507"/>
            <a:chOff x="0" y="0"/>
            <a:chExt cx="1969660" cy="3880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69660" cy="388084"/>
            </a:xfrm>
            <a:custGeom>
              <a:avLst/>
              <a:gdLst/>
              <a:ahLst/>
              <a:cxnLst/>
              <a:rect l="l" t="t" r="r" b="b"/>
              <a:pathLst>
                <a:path w="1969660" h="388084">
                  <a:moveTo>
                    <a:pt x="0" y="0"/>
                  </a:moveTo>
                  <a:lnTo>
                    <a:pt x="1969660" y="0"/>
                  </a:lnTo>
                  <a:lnTo>
                    <a:pt x="1969660" y="388084"/>
                  </a:lnTo>
                  <a:lnTo>
                    <a:pt x="0" y="388084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69660" cy="426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834152" y="189503"/>
            <a:ext cx="8418449" cy="8418449"/>
          </a:xfrm>
          <a:custGeom>
            <a:avLst/>
            <a:gdLst/>
            <a:ahLst/>
            <a:cxnLst/>
            <a:rect l="l" t="t" r="r" b="b"/>
            <a:pathLst>
              <a:path w="8418449" h="8418449">
                <a:moveTo>
                  <a:pt x="0" y="0"/>
                </a:moveTo>
                <a:lnTo>
                  <a:pt x="8418449" y="0"/>
                </a:lnTo>
                <a:lnTo>
                  <a:pt x="8418449" y="8418448"/>
                </a:lnTo>
                <a:lnTo>
                  <a:pt x="0" y="8418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2482128"/>
            <a:ext cx="14685823" cy="3161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2"/>
              </a:lnSpc>
            </a:pPr>
            <a:r>
              <a:rPr lang="en-US" sz="13575" spc="-135">
                <a:solidFill>
                  <a:srgbClr val="5CE1E6"/>
                </a:solidFill>
                <a:latin typeface="RQND Pro Wide"/>
                <a:ea typeface="RQND Pro Wide"/>
                <a:cs typeface="RQND Pro Wide"/>
                <a:sym typeface="RQND Pro Wide"/>
              </a:rPr>
              <a:t>BEST PRACTICES FOR INDIVIDUALS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563733" y="6638925"/>
            <a:ext cx="3376435" cy="606935"/>
            <a:chOff x="0" y="0"/>
            <a:chExt cx="889267" cy="15985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9267" cy="159851"/>
            </a:xfrm>
            <a:custGeom>
              <a:avLst/>
              <a:gdLst/>
              <a:ahLst/>
              <a:cxnLst/>
              <a:rect l="l" t="t" r="r" b="b"/>
              <a:pathLst>
                <a:path w="889267" h="159851">
                  <a:moveTo>
                    <a:pt x="0" y="0"/>
                  </a:moveTo>
                  <a:lnTo>
                    <a:pt x="889267" y="0"/>
                  </a:lnTo>
                  <a:lnTo>
                    <a:pt x="889267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0F006C"/>
            </a:solidFill>
            <a:ln w="9525" cap="sq">
              <a:solidFill>
                <a:srgbClr val="523AE7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89267" cy="197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25003" y="6638925"/>
            <a:ext cx="3376435" cy="606935"/>
            <a:chOff x="0" y="0"/>
            <a:chExt cx="889267" cy="1598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89267" cy="159851"/>
            </a:xfrm>
            <a:custGeom>
              <a:avLst/>
              <a:gdLst/>
              <a:ahLst/>
              <a:cxnLst/>
              <a:rect l="l" t="t" r="r" b="b"/>
              <a:pathLst>
                <a:path w="889267" h="159851">
                  <a:moveTo>
                    <a:pt x="0" y="0"/>
                  </a:moveTo>
                  <a:lnTo>
                    <a:pt x="889267" y="0"/>
                  </a:lnTo>
                  <a:lnTo>
                    <a:pt x="889267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0F006C"/>
            </a:solidFill>
            <a:ln w="9525" cap="sq">
              <a:solidFill>
                <a:srgbClr val="523AE7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89267" cy="197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391678" y="7634686"/>
            <a:ext cx="3021945" cy="606935"/>
            <a:chOff x="0" y="0"/>
            <a:chExt cx="795903" cy="1598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95903" cy="159851"/>
            </a:xfrm>
            <a:custGeom>
              <a:avLst/>
              <a:gdLst/>
              <a:ahLst/>
              <a:cxnLst/>
              <a:rect l="l" t="t" r="r" b="b"/>
              <a:pathLst>
                <a:path w="795903" h="159851">
                  <a:moveTo>
                    <a:pt x="0" y="0"/>
                  </a:moveTo>
                  <a:lnTo>
                    <a:pt x="795903" y="0"/>
                  </a:lnTo>
                  <a:lnTo>
                    <a:pt x="795903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0F006C"/>
            </a:solidFill>
            <a:ln w="9525" cap="sq">
              <a:solidFill>
                <a:srgbClr val="523AE7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795903" cy="197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63733" y="7634686"/>
            <a:ext cx="3440243" cy="606935"/>
            <a:chOff x="0" y="0"/>
            <a:chExt cx="906072" cy="15985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06072" cy="159851"/>
            </a:xfrm>
            <a:custGeom>
              <a:avLst/>
              <a:gdLst/>
              <a:ahLst/>
              <a:cxnLst/>
              <a:rect l="l" t="t" r="r" b="b"/>
              <a:pathLst>
                <a:path w="906072" h="159851">
                  <a:moveTo>
                    <a:pt x="0" y="0"/>
                  </a:moveTo>
                  <a:lnTo>
                    <a:pt x="906072" y="0"/>
                  </a:lnTo>
                  <a:lnTo>
                    <a:pt x="90607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0F006C"/>
            </a:solidFill>
            <a:ln w="9525" cap="sq">
              <a:solidFill>
                <a:srgbClr val="523AE7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906072" cy="197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63733" y="8630446"/>
            <a:ext cx="2802161" cy="606935"/>
            <a:chOff x="0" y="0"/>
            <a:chExt cx="738018" cy="1598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8018" cy="159851"/>
            </a:xfrm>
            <a:custGeom>
              <a:avLst/>
              <a:gdLst/>
              <a:ahLst/>
              <a:cxnLst/>
              <a:rect l="l" t="t" r="r" b="b"/>
              <a:pathLst>
                <a:path w="738018" h="159851">
                  <a:moveTo>
                    <a:pt x="0" y="0"/>
                  </a:moveTo>
                  <a:lnTo>
                    <a:pt x="738018" y="0"/>
                  </a:lnTo>
                  <a:lnTo>
                    <a:pt x="738018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0F006C"/>
            </a:solidFill>
            <a:ln w="9525" cap="sq">
              <a:solidFill>
                <a:srgbClr val="523AE7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738018" cy="197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AutoShape 23"/>
          <p:cNvSpPr/>
          <p:nvPr/>
        </p:nvSpPr>
        <p:spPr>
          <a:xfrm>
            <a:off x="1028700" y="5791985"/>
            <a:ext cx="10914658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7810995" y="2679141"/>
            <a:ext cx="3596893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Freeform 25"/>
          <p:cNvSpPr/>
          <p:nvPr/>
        </p:nvSpPr>
        <p:spPr>
          <a:xfrm>
            <a:off x="11256303" y="2590485"/>
            <a:ext cx="1773128" cy="177313"/>
          </a:xfrm>
          <a:custGeom>
            <a:avLst/>
            <a:gdLst/>
            <a:ahLst/>
            <a:cxnLst/>
            <a:rect l="l" t="t" r="r" b="b"/>
            <a:pathLst>
              <a:path w="1773128" h="177313">
                <a:moveTo>
                  <a:pt x="0" y="0"/>
                </a:moveTo>
                <a:lnTo>
                  <a:pt x="1773128" y="0"/>
                </a:lnTo>
                <a:lnTo>
                  <a:pt x="1773128" y="177312"/>
                </a:lnTo>
                <a:lnTo>
                  <a:pt x="0" y="177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28700" y="8991949"/>
            <a:ext cx="316131" cy="245432"/>
          </a:xfrm>
          <a:custGeom>
            <a:avLst/>
            <a:gdLst/>
            <a:ahLst/>
            <a:cxnLst/>
            <a:rect l="l" t="t" r="r" b="b"/>
            <a:pathLst>
              <a:path w="316131" h="245432">
                <a:moveTo>
                  <a:pt x="0" y="0"/>
                </a:moveTo>
                <a:lnTo>
                  <a:pt x="316131" y="0"/>
                </a:lnTo>
                <a:lnTo>
                  <a:pt x="316131" y="245432"/>
                </a:lnTo>
                <a:lnTo>
                  <a:pt x="0" y="245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6762880" y="6831593"/>
            <a:ext cx="2978141" cy="231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6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Use strong, unique passwords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524150" y="6831593"/>
            <a:ext cx="2978141" cy="231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6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Avoid suspicious links/emails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597915" y="7827354"/>
            <a:ext cx="2609471" cy="231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6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Regularly update devices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94784" y="7827354"/>
            <a:ext cx="2978141" cy="231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6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Enable 2FA whenever possible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23886" y="8823114"/>
            <a:ext cx="2481854" cy="231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6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Back up important data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4291987" y="5791985"/>
            <a:ext cx="4063989" cy="3414362"/>
            <a:chOff x="0" y="0"/>
            <a:chExt cx="1416735" cy="89925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16735" cy="899256"/>
            </a:xfrm>
            <a:custGeom>
              <a:avLst/>
              <a:gdLst/>
              <a:ahLst/>
              <a:cxnLst/>
              <a:rect l="l" t="t" r="r" b="b"/>
              <a:pathLst>
                <a:path w="1416735" h="899256">
                  <a:moveTo>
                    <a:pt x="0" y="0"/>
                  </a:moveTo>
                  <a:lnTo>
                    <a:pt x="1416735" y="0"/>
                  </a:lnTo>
                  <a:lnTo>
                    <a:pt x="1416735" y="899256"/>
                  </a:lnTo>
                  <a:lnTo>
                    <a:pt x="0" y="899256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416735" cy="937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8761973" y="1025110"/>
            <a:ext cx="4988661" cy="517007"/>
          </a:xfrm>
          <a:custGeom>
            <a:avLst/>
            <a:gdLst/>
            <a:ahLst/>
            <a:cxnLst/>
            <a:rect l="l" t="t" r="r" b="b"/>
            <a:pathLst>
              <a:path w="4988661" h="517007">
                <a:moveTo>
                  <a:pt x="0" y="0"/>
                </a:moveTo>
                <a:lnTo>
                  <a:pt x="4988661" y="0"/>
                </a:lnTo>
                <a:lnTo>
                  <a:pt x="4988661" y="517007"/>
                </a:lnTo>
                <a:lnTo>
                  <a:pt x="0" y="5170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 flipH="1">
            <a:off x="5646253" y="988853"/>
            <a:ext cx="2401789" cy="2308720"/>
          </a:xfrm>
          <a:custGeom>
            <a:avLst/>
            <a:gdLst/>
            <a:ahLst/>
            <a:cxnLst/>
            <a:rect l="l" t="t" r="r" b="b"/>
            <a:pathLst>
              <a:path w="2401789" h="2308720">
                <a:moveTo>
                  <a:pt x="2401789" y="0"/>
                </a:moveTo>
                <a:lnTo>
                  <a:pt x="0" y="0"/>
                </a:lnTo>
                <a:lnTo>
                  <a:pt x="0" y="2308721"/>
                </a:lnTo>
                <a:lnTo>
                  <a:pt x="2401789" y="2308721"/>
                </a:lnTo>
                <a:lnTo>
                  <a:pt x="2401789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6563733" y="6520487"/>
            <a:ext cx="725087" cy="118438"/>
            <a:chOff x="0" y="0"/>
            <a:chExt cx="190970" cy="3119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90970" cy="31194"/>
            </a:xfrm>
            <a:custGeom>
              <a:avLst/>
              <a:gdLst/>
              <a:ahLst/>
              <a:cxnLst/>
              <a:rect l="l" t="t" r="r" b="b"/>
              <a:pathLst>
                <a:path w="190970" h="31194">
                  <a:moveTo>
                    <a:pt x="0" y="0"/>
                  </a:moveTo>
                  <a:lnTo>
                    <a:pt x="190970" y="0"/>
                  </a:lnTo>
                  <a:lnTo>
                    <a:pt x="190970" y="31194"/>
                  </a:lnTo>
                  <a:lnTo>
                    <a:pt x="0" y="31194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90970" cy="6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144000" y="9118943"/>
            <a:ext cx="725087" cy="118438"/>
            <a:chOff x="0" y="0"/>
            <a:chExt cx="190970" cy="3119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90970" cy="31194"/>
            </a:xfrm>
            <a:custGeom>
              <a:avLst/>
              <a:gdLst/>
              <a:ahLst/>
              <a:cxnLst/>
              <a:rect l="l" t="t" r="r" b="b"/>
              <a:pathLst>
                <a:path w="190970" h="31194">
                  <a:moveTo>
                    <a:pt x="0" y="0"/>
                  </a:moveTo>
                  <a:lnTo>
                    <a:pt x="190970" y="0"/>
                  </a:lnTo>
                  <a:lnTo>
                    <a:pt x="190970" y="31194"/>
                  </a:lnTo>
                  <a:lnTo>
                    <a:pt x="0" y="31194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90970" cy="6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842748" y="5538184"/>
            <a:ext cx="2138822" cy="507602"/>
            <a:chOff x="0" y="0"/>
            <a:chExt cx="563311" cy="13369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63311" cy="133690"/>
            </a:xfrm>
            <a:custGeom>
              <a:avLst/>
              <a:gdLst/>
              <a:ahLst/>
              <a:cxnLst/>
              <a:rect l="l" t="t" r="r" b="b"/>
              <a:pathLst>
                <a:path w="563311" h="133690">
                  <a:moveTo>
                    <a:pt x="0" y="0"/>
                  </a:moveTo>
                  <a:lnTo>
                    <a:pt x="563311" y="0"/>
                  </a:lnTo>
                  <a:lnTo>
                    <a:pt x="563311" y="133690"/>
                  </a:lnTo>
                  <a:lnTo>
                    <a:pt x="0" y="133690"/>
                  </a:lnTo>
                  <a:close/>
                </a:path>
              </a:pathLst>
            </a:custGeom>
            <a:solidFill>
              <a:srgbClr val="0F006C"/>
            </a:solidFill>
            <a:ln w="9525" cap="sq">
              <a:solidFill>
                <a:srgbClr val="523AE7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563311" cy="171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6" name="Freeform 46"/>
          <p:cNvSpPr/>
          <p:nvPr/>
        </p:nvSpPr>
        <p:spPr>
          <a:xfrm>
            <a:off x="15025595" y="5703328"/>
            <a:ext cx="1773128" cy="177313"/>
          </a:xfrm>
          <a:custGeom>
            <a:avLst/>
            <a:gdLst/>
            <a:ahLst/>
            <a:cxnLst/>
            <a:rect l="l" t="t" r="r" b="b"/>
            <a:pathLst>
              <a:path w="1773128" h="177313">
                <a:moveTo>
                  <a:pt x="0" y="0"/>
                </a:moveTo>
                <a:lnTo>
                  <a:pt x="1773128" y="0"/>
                </a:lnTo>
                <a:lnTo>
                  <a:pt x="1773128" y="177313"/>
                </a:lnTo>
                <a:lnTo>
                  <a:pt x="0" y="1773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70417" y="2185049"/>
            <a:ext cx="6817583" cy="2475423"/>
            <a:chOff x="0" y="0"/>
            <a:chExt cx="2339679" cy="6519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9679" cy="651963"/>
            </a:xfrm>
            <a:custGeom>
              <a:avLst/>
              <a:gdLst/>
              <a:ahLst/>
              <a:cxnLst/>
              <a:rect l="l" t="t" r="r" b="b"/>
              <a:pathLst>
                <a:path w="2339679" h="651963">
                  <a:moveTo>
                    <a:pt x="0" y="0"/>
                  </a:moveTo>
                  <a:lnTo>
                    <a:pt x="2339679" y="0"/>
                  </a:lnTo>
                  <a:lnTo>
                    <a:pt x="2339679" y="651963"/>
                  </a:lnTo>
                  <a:lnTo>
                    <a:pt x="0" y="651963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39679" cy="69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714849" y="3513439"/>
            <a:ext cx="7544451" cy="5736927"/>
          </a:xfrm>
          <a:custGeom>
            <a:avLst/>
            <a:gdLst/>
            <a:ahLst/>
            <a:cxnLst/>
            <a:rect l="l" t="t" r="r" b="b"/>
            <a:pathLst>
              <a:path w="7544451" h="5736927">
                <a:moveTo>
                  <a:pt x="0" y="0"/>
                </a:moveTo>
                <a:lnTo>
                  <a:pt x="7544451" y="0"/>
                </a:lnTo>
                <a:lnTo>
                  <a:pt x="7544451" y="5736926"/>
                </a:lnTo>
                <a:lnTo>
                  <a:pt x="0" y="5736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10800000">
            <a:off x="-1" y="5234131"/>
            <a:ext cx="5100927" cy="1464091"/>
            <a:chOff x="0" y="0"/>
            <a:chExt cx="1810224" cy="3856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10224" cy="385604"/>
            </a:xfrm>
            <a:custGeom>
              <a:avLst/>
              <a:gdLst/>
              <a:ahLst/>
              <a:cxnLst/>
              <a:rect l="l" t="t" r="r" b="b"/>
              <a:pathLst>
                <a:path w="1810224" h="385604">
                  <a:moveTo>
                    <a:pt x="0" y="0"/>
                  </a:moveTo>
                  <a:lnTo>
                    <a:pt x="1810224" y="0"/>
                  </a:lnTo>
                  <a:lnTo>
                    <a:pt x="1810224" y="385604"/>
                  </a:lnTo>
                  <a:lnTo>
                    <a:pt x="0" y="385604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810224" cy="4237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5855049"/>
            <a:ext cx="4072227" cy="5481610"/>
            <a:chOff x="0" y="0"/>
            <a:chExt cx="1072521" cy="14437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2521" cy="1443716"/>
            </a:xfrm>
            <a:custGeom>
              <a:avLst/>
              <a:gdLst/>
              <a:ahLst/>
              <a:cxnLst/>
              <a:rect l="l" t="t" r="r" b="b"/>
              <a:pathLst>
                <a:path w="1072521" h="1443716">
                  <a:moveTo>
                    <a:pt x="0" y="0"/>
                  </a:moveTo>
                  <a:lnTo>
                    <a:pt x="1072521" y="0"/>
                  </a:lnTo>
                  <a:lnTo>
                    <a:pt x="1072521" y="1443716"/>
                  </a:lnTo>
                  <a:lnTo>
                    <a:pt x="0" y="1443716"/>
                  </a:lnTo>
                  <a:close/>
                </a:path>
              </a:pathLst>
            </a:custGeom>
            <a:solidFill>
              <a:srgbClr val="0F006C"/>
            </a:solidFill>
            <a:ln w="9525" cap="sq">
              <a:solidFill>
                <a:srgbClr val="523AE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72521" cy="1481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5855049"/>
            <a:ext cx="725087" cy="118438"/>
            <a:chOff x="0" y="0"/>
            <a:chExt cx="190970" cy="311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0970" cy="31194"/>
            </a:xfrm>
            <a:custGeom>
              <a:avLst/>
              <a:gdLst/>
              <a:ahLst/>
              <a:cxnLst/>
              <a:rect l="l" t="t" r="r" b="b"/>
              <a:pathLst>
                <a:path w="190970" h="31194">
                  <a:moveTo>
                    <a:pt x="0" y="0"/>
                  </a:moveTo>
                  <a:lnTo>
                    <a:pt x="190970" y="0"/>
                  </a:lnTo>
                  <a:lnTo>
                    <a:pt x="190970" y="31194"/>
                  </a:lnTo>
                  <a:lnTo>
                    <a:pt x="0" y="31194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0970" cy="6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5698245" y="6302286"/>
            <a:ext cx="3445755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5698245" y="6974505"/>
            <a:ext cx="3445755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5698245" y="7646724"/>
            <a:ext cx="3445755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5698245" y="8557068"/>
            <a:ext cx="3445755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15120478" y="8742763"/>
            <a:ext cx="2138822" cy="507602"/>
            <a:chOff x="0" y="0"/>
            <a:chExt cx="563311" cy="1336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63311" cy="133690"/>
            </a:xfrm>
            <a:custGeom>
              <a:avLst/>
              <a:gdLst/>
              <a:ahLst/>
              <a:cxnLst/>
              <a:rect l="l" t="t" r="r" b="b"/>
              <a:pathLst>
                <a:path w="563311" h="133690">
                  <a:moveTo>
                    <a:pt x="0" y="0"/>
                  </a:moveTo>
                  <a:lnTo>
                    <a:pt x="563311" y="0"/>
                  </a:lnTo>
                  <a:lnTo>
                    <a:pt x="563311" y="133690"/>
                  </a:lnTo>
                  <a:lnTo>
                    <a:pt x="0" y="133690"/>
                  </a:lnTo>
                  <a:close/>
                </a:path>
              </a:pathLst>
            </a:custGeom>
            <a:solidFill>
              <a:srgbClr val="0F006C"/>
            </a:solidFill>
            <a:ln w="9525" cap="sq">
              <a:solidFill>
                <a:srgbClr val="523AE7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63311" cy="171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5303325" y="8907908"/>
            <a:ext cx="1773128" cy="177313"/>
          </a:xfrm>
          <a:custGeom>
            <a:avLst/>
            <a:gdLst/>
            <a:ahLst/>
            <a:cxnLst/>
            <a:rect l="l" t="t" r="r" b="b"/>
            <a:pathLst>
              <a:path w="1773128" h="177313">
                <a:moveTo>
                  <a:pt x="0" y="0"/>
                </a:moveTo>
                <a:lnTo>
                  <a:pt x="1773128" y="0"/>
                </a:lnTo>
                <a:lnTo>
                  <a:pt x="1773128" y="177312"/>
                </a:lnTo>
                <a:lnTo>
                  <a:pt x="0" y="177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930031" y="510535"/>
            <a:ext cx="15717849" cy="3628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98"/>
              </a:lnSpc>
            </a:pPr>
            <a:r>
              <a:rPr lang="en-US" sz="11961" spc="-119">
                <a:solidFill>
                  <a:srgbClr val="5CE1E6"/>
                </a:solidFill>
                <a:latin typeface="RQND Pro Wide"/>
                <a:ea typeface="RQND Pro Wide"/>
                <a:cs typeface="RQND Pro Wide"/>
                <a:sym typeface="RQND Pro Wide"/>
              </a:rPr>
              <a:t>BEST PRACTICES AND DEFENSE STRATEGIES</a:t>
            </a:r>
          </a:p>
          <a:p>
            <a:pPr algn="l">
              <a:lnSpc>
                <a:spcPts val="6698"/>
              </a:lnSpc>
            </a:pPr>
            <a:endParaRPr lang="en-US" sz="11961" spc="-119">
              <a:solidFill>
                <a:srgbClr val="5CE1E6"/>
              </a:solidFill>
              <a:latin typeface="RQND Pro Wide"/>
              <a:ea typeface="RQND Pro Wide"/>
              <a:cs typeface="RQND Pro Wide"/>
              <a:sym typeface="RQND Pro Wide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698245" y="5828064"/>
            <a:ext cx="344575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Firewalls and antivirus software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98245" y="6500283"/>
            <a:ext cx="344575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Encryption of sensitive data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698245" y="7172502"/>
            <a:ext cx="344575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Multi-factor authentication (MFA)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98245" y="7844721"/>
            <a:ext cx="2951866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Regular software updates and patches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98245" y="8755065"/>
            <a:ext cx="2848372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Security audits and penetration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5329489" cy="8229600"/>
            <a:chOff x="0" y="0"/>
            <a:chExt cx="411226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12260" cy="6350000"/>
            </a:xfrm>
            <a:custGeom>
              <a:avLst/>
              <a:gdLst/>
              <a:ahLst/>
              <a:cxnLst/>
              <a:rect l="l" t="t" r="r" b="b"/>
              <a:pathLst>
                <a:path w="4112260" h="6350000">
                  <a:moveTo>
                    <a:pt x="4112260" y="623570"/>
                  </a:moveTo>
                  <a:lnTo>
                    <a:pt x="4112260" y="2641600"/>
                  </a:lnTo>
                  <a:cubicBezTo>
                    <a:pt x="4112260" y="2821940"/>
                    <a:pt x="4033520" y="2993390"/>
                    <a:pt x="3897630" y="3112770"/>
                  </a:cubicBezTo>
                  <a:cubicBezTo>
                    <a:pt x="3761740" y="3230880"/>
                    <a:pt x="3683000" y="3402330"/>
                    <a:pt x="3683000" y="3583940"/>
                  </a:cubicBezTo>
                  <a:lnTo>
                    <a:pt x="3683000" y="5726430"/>
                  </a:lnTo>
                  <a:cubicBezTo>
                    <a:pt x="3683000" y="6070600"/>
                    <a:pt x="3403600" y="6350000"/>
                    <a:pt x="3059430" y="6350000"/>
                  </a:cubicBezTo>
                  <a:lnTo>
                    <a:pt x="623570" y="6350000"/>
                  </a:lnTo>
                  <a:cubicBezTo>
                    <a:pt x="279400" y="6350000"/>
                    <a:pt x="0" y="6070600"/>
                    <a:pt x="0" y="5726430"/>
                  </a:cubicBezTo>
                  <a:lnTo>
                    <a:pt x="0" y="623570"/>
                  </a:lnTo>
                  <a:cubicBezTo>
                    <a:pt x="0" y="279400"/>
                    <a:pt x="279400" y="0"/>
                    <a:pt x="623570" y="0"/>
                  </a:cubicBezTo>
                  <a:lnTo>
                    <a:pt x="3489960" y="0"/>
                  </a:lnTo>
                  <a:cubicBezTo>
                    <a:pt x="3834130" y="0"/>
                    <a:pt x="4112260" y="279400"/>
                    <a:pt x="4112260" y="623570"/>
                  </a:cubicBezTo>
                  <a:close/>
                </a:path>
              </a:pathLst>
            </a:custGeom>
            <a:blipFill>
              <a:blip r:embed="rId2"/>
              <a:stretch>
                <a:fillRect r="-287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617880" y="1610311"/>
            <a:ext cx="402047" cy="379386"/>
          </a:xfrm>
          <a:custGeom>
            <a:avLst/>
            <a:gdLst/>
            <a:ahLst/>
            <a:cxnLst/>
            <a:rect l="l" t="t" r="r" b="b"/>
            <a:pathLst>
              <a:path w="402047" h="379386">
                <a:moveTo>
                  <a:pt x="0" y="0"/>
                </a:moveTo>
                <a:lnTo>
                  <a:pt x="402047" y="0"/>
                </a:lnTo>
                <a:lnTo>
                  <a:pt x="402047" y="379386"/>
                </a:lnTo>
                <a:lnTo>
                  <a:pt x="0" y="3793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7520280" y="4756862"/>
            <a:ext cx="9739020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5221853" y="1800004"/>
            <a:ext cx="2913747" cy="2439297"/>
            <a:chOff x="0" y="0"/>
            <a:chExt cx="1387415" cy="6424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87415" cy="642448"/>
            </a:xfrm>
            <a:custGeom>
              <a:avLst/>
              <a:gdLst/>
              <a:ahLst/>
              <a:cxnLst/>
              <a:rect l="l" t="t" r="r" b="b"/>
              <a:pathLst>
                <a:path w="1387415" h="642448">
                  <a:moveTo>
                    <a:pt x="0" y="0"/>
                  </a:moveTo>
                  <a:lnTo>
                    <a:pt x="1387415" y="0"/>
                  </a:lnTo>
                  <a:lnTo>
                    <a:pt x="1387415" y="642448"/>
                  </a:lnTo>
                  <a:lnTo>
                    <a:pt x="0" y="642448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87415" cy="6805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520280" y="995843"/>
            <a:ext cx="10335493" cy="3293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80"/>
              </a:lnSpc>
            </a:pPr>
            <a:r>
              <a:rPr lang="en-US" sz="10858" spc="-108">
                <a:solidFill>
                  <a:srgbClr val="5CE1E6"/>
                </a:solidFill>
                <a:latin typeface="RQND Pro Wide"/>
                <a:ea typeface="RQND Pro Wide"/>
                <a:cs typeface="RQND Pro Wide"/>
                <a:sym typeface="RQND Pro Wide"/>
              </a:rPr>
              <a:t>ORGANIZATIONAL SECURITY FRAMEWORK</a:t>
            </a:r>
          </a:p>
          <a:p>
            <a:pPr algn="l">
              <a:lnSpc>
                <a:spcPts val="6080"/>
              </a:lnSpc>
            </a:pPr>
            <a:endParaRPr lang="en-US" sz="10858" spc="-108">
              <a:solidFill>
                <a:srgbClr val="5CE1E6"/>
              </a:solidFill>
              <a:latin typeface="RQND Pro Wide"/>
              <a:ea typeface="RQND Pro Wide"/>
              <a:cs typeface="RQND Pro Wide"/>
              <a:sym typeface="RQND Pro Wid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49418" y="1599934"/>
            <a:ext cx="1826439" cy="38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1800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FRADEL AND SPIES CO</a:t>
            </a:r>
          </a:p>
        </p:txBody>
      </p:sp>
      <p:sp>
        <p:nvSpPr>
          <p:cNvPr id="11" name="Freeform 11"/>
          <p:cNvSpPr/>
          <p:nvPr/>
        </p:nvSpPr>
        <p:spPr>
          <a:xfrm>
            <a:off x="8266149" y="3459971"/>
            <a:ext cx="2397712" cy="2850178"/>
          </a:xfrm>
          <a:custGeom>
            <a:avLst/>
            <a:gdLst/>
            <a:ahLst/>
            <a:cxnLst/>
            <a:rect l="l" t="t" r="r" b="b"/>
            <a:pathLst>
              <a:path w="2397712" h="2850178">
                <a:moveTo>
                  <a:pt x="0" y="0"/>
                </a:moveTo>
                <a:lnTo>
                  <a:pt x="2397712" y="0"/>
                </a:lnTo>
                <a:lnTo>
                  <a:pt x="2397712" y="2850178"/>
                </a:lnTo>
                <a:lnTo>
                  <a:pt x="0" y="28501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303664" y="5836004"/>
            <a:ext cx="4918188" cy="3422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53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Organizations should implement multi-layered defenses including advanced email filtering with AI detection, user authentication protocols, regular security awareness training, incident response procedures, and phishing simulation programs to test employee preparedness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184405" y="5448300"/>
            <a:ext cx="725087" cy="118438"/>
            <a:chOff x="0" y="0"/>
            <a:chExt cx="190970" cy="311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0970" cy="31194"/>
            </a:xfrm>
            <a:custGeom>
              <a:avLst/>
              <a:gdLst/>
              <a:ahLst/>
              <a:cxnLst/>
              <a:rect l="l" t="t" r="r" b="b"/>
              <a:pathLst>
                <a:path w="190970" h="31194">
                  <a:moveTo>
                    <a:pt x="0" y="0"/>
                  </a:moveTo>
                  <a:lnTo>
                    <a:pt x="190970" y="0"/>
                  </a:lnTo>
                  <a:lnTo>
                    <a:pt x="190970" y="31194"/>
                  </a:lnTo>
                  <a:lnTo>
                    <a:pt x="0" y="31194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90970" cy="6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7520280" y="8842020"/>
            <a:ext cx="961991" cy="416280"/>
          </a:xfrm>
          <a:custGeom>
            <a:avLst/>
            <a:gdLst/>
            <a:ahLst/>
            <a:cxnLst/>
            <a:rect l="l" t="t" r="r" b="b"/>
            <a:pathLst>
              <a:path w="961991" h="416280">
                <a:moveTo>
                  <a:pt x="0" y="0"/>
                </a:moveTo>
                <a:lnTo>
                  <a:pt x="961991" y="0"/>
                </a:lnTo>
                <a:lnTo>
                  <a:pt x="961991" y="416280"/>
                </a:lnTo>
                <a:lnTo>
                  <a:pt x="0" y="416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>
            <a:off x="4602874" y="4885060"/>
            <a:ext cx="3510630" cy="3418713"/>
          </a:xfrm>
          <a:custGeom>
            <a:avLst/>
            <a:gdLst/>
            <a:ahLst/>
            <a:cxnLst/>
            <a:rect l="l" t="t" r="r" b="b"/>
            <a:pathLst>
              <a:path w="3510630" h="3418713">
                <a:moveTo>
                  <a:pt x="3510630" y="0"/>
                </a:moveTo>
                <a:lnTo>
                  <a:pt x="0" y="0"/>
                </a:lnTo>
                <a:lnTo>
                  <a:pt x="0" y="3418713"/>
                </a:lnTo>
                <a:lnTo>
                  <a:pt x="3510630" y="3418713"/>
                </a:lnTo>
                <a:lnTo>
                  <a:pt x="351063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 rot="-10800000">
            <a:off x="0" y="7353300"/>
            <a:ext cx="3268404" cy="2933700"/>
            <a:chOff x="0" y="0"/>
            <a:chExt cx="1416735" cy="89925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16735" cy="899256"/>
            </a:xfrm>
            <a:custGeom>
              <a:avLst/>
              <a:gdLst/>
              <a:ahLst/>
              <a:cxnLst/>
              <a:rect l="l" t="t" r="r" b="b"/>
              <a:pathLst>
                <a:path w="1416735" h="899256">
                  <a:moveTo>
                    <a:pt x="0" y="0"/>
                  </a:moveTo>
                  <a:lnTo>
                    <a:pt x="1416735" y="0"/>
                  </a:lnTo>
                  <a:lnTo>
                    <a:pt x="1416735" y="899256"/>
                  </a:lnTo>
                  <a:lnTo>
                    <a:pt x="0" y="899256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416735" cy="937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520280" y="4756862"/>
            <a:ext cx="725087" cy="118438"/>
            <a:chOff x="0" y="0"/>
            <a:chExt cx="190970" cy="3119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0970" cy="31194"/>
            </a:xfrm>
            <a:custGeom>
              <a:avLst/>
              <a:gdLst/>
              <a:ahLst/>
              <a:cxnLst/>
              <a:rect l="l" t="t" r="r" b="b"/>
              <a:pathLst>
                <a:path w="190970" h="31194">
                  <a:moveTo>
                    <a:pt x="0" y="0"/>
                  </a:moveTo>
                  <a:lnTo>
                    <a:pt x="190970" y="0"/>
                  </a:lnTo>
                  <a:lnTo>
                    <a:pt x="190970" y="31194"/>
                  </a:lnTo>
                  <a:lnTo>
                    <a:pt x="0" y="31194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90970" cy="6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47401" y="1028700"/>
            <a:ext cx="4240600" cy="4302685"/>
            <a:chOff x="0" y="0"/>
            <a:chExt cx="1416735" cy="11332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16735" cy="1133217"/>
            </a:xfrm>
            <a:custGeom>
              <a:avLst/>
              <a:gdLst/>
              <a:ahLst/>
              <a:cxnLst/>
              <a:rect l="l" t="t" r="r" b="b"/>
              <a:pathLst>
                <a:path w="1416735" h="1133217">
                  <a:moveTo>
                    <a:pt x="0" y="0"/>
                  </a:moveTo>
                  <a:lnTo>
                    <a:pt x="1416735" y="0"/>
                  </a:lnTo>
                  <a:lnTo>
                    <a:pt x="1416735" y="1133217"/>
                  </a:lnTo>
                  <a:lnTo>
                    <a:pt x="0" y="1133217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16735" cy="1171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944467"/>
            <a:ext cx="11735776" cy="2850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4"/>
              </a:lnSpc>
            </a:pPr>
            <a:r>
              <a:rPr lang="en-US" sz="9418" spc="-94">
                <a:solidFill>
                  <a:srgbClr val="5CE1E6"/>
                </a:solidFill>
                <a:latin typeface="RQND Pro Wide"/>
                <a:ea typeface="RQND Pro Wide"/>
                <a:cs typeface="RQND Pro Wide"/>
                <a:sym typeface="RQND Pro Wide"/>
              </a:rPr>
              <a:t>ATTACK TECHNIQUE EXAMPLES</a:t>
            </a:r>
          </a:p>
          <a:p>
            <a:pPr algn="l">
              <a:lnSpc>
                <a:spcPts val="5274"/>
              </a:lnSpc>
            </a:pPr>
            <a:endParaRPr lang="en-US" sz="9418" spc="-94">
              <a:solidFill>
                <a:srgbClr val="5CE1E6"/>
              </a:solidFill>
              <a:latin typeface="RQND Pro Wide"/>
              <a:ea typeface="RQND Pro Wide"/>
              <a:cs typeface="RQND Pro Wide"/>
              <a:sym typeface="RQND Pro Wide"/>
            </a:endParaRPr>
          </a:p>
        </p:txBody>
      </p:sp>
      <p:grpSp>
        <p:nvGrpSpPr>
          <p:cNvPr id="6" name="Group 6"/>
          <p:cNvGrpSpPr/>
          <p:nvPr/>
        </p:nvGrpSpPr>
        <p:grpSpPr>
          <a:xfrm rot="-10800000">
            <a:off x="-36523" y="4309684"/>
            <a:ext cx="5954327" cy="1974199"/>
            <a:chOff x="0" y="0"/>
            <a:chExt cx="1969660" cy="51995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9660" cy="519954"/>
            </a:xfrm>
            <a:custGeom>
              <a:avLst/>
              <a:gdLst/>
              <a:ahLst/>
              <a:cxnLst/>
              <a:rect l="l" t="t" r="r" b="b"/>
              <a:pathLst>
                <a:path w="1969660" h="519954">
                  <a:moveTo>
                    <a:pt x="0" y="0"/>
                  </a:moveTo>
                  <a:lnTo>
                    <a:pt x="1969660" y="0"/>
                  </a:lnTo>
                  <a:lnTo>
                    <a:pt x="1969660" y="519954"/>
                  </a:lnTo>
                  <a:lnTo>
                    <a:pt x="0" y="519954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69660" cy="558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718160" y="4309685"/>
            <a:ext cx="14541140" cy="4948615"/>
            <a:chOff x="0" y="0"/>
            <a:chExt cx="3829765" cy="13033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29765" cy="1303339"/>
            </a:xfrm>
            <a:custGeom>
              <a:avLst/>
              <a:gdLst/>
              <a:ahLst/>
              <a:cxnLst/>
              <a:rect l="l" t="t" r="r" b="b"/>
              <a:pathLst>
                <a:path w="3829765" h="1303339">
                  <a:moveTo>
                    <a:pt x="0" y="0"/>
                  </a:moveTo>
                  <a:lnTo>
                    <a:pt x="3829765" y="0"/>
                  </a:lnTo>
                  <a:lnTo>
                    <a:pt x="3829765" y="1303339"/>
                  </a:lnTo>
                  <a:lnTo>
                    <a:pt x="0" y="1303339"/>
                  </a:lnTo>
                  <a:close/>
                </a:path>
              </a:pathLst>
            </a:custGeom>
            <a:solidFill>
              <a:srgbClr val="0F006C"/>
            </a:solidFill>
            <a:ln w="9525" cap="sq">
              <a:solidFill>
                <a:srgbClr val="523AE7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829765" cy="13414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527828" y="2381784"/>
            <a:ext cx="6046631" cy="7113684"/>
          </a:xfrm>
          <a:custGeom>
            <a:avLst/>
            <a:gdLst/>
            <a:ahLst/>
            <a:cxnLst/>
            <a:rect l="l" t="t" r="r" b="b"/>
            <a:pathLst>
              <a:path w="6046631" h="7113684">
                <a:moveTo>
                  <a:pt x="0" y="0"/>
                </a:moveTo>
                <a:lnTo>
                  <a:pt x="6046631" y="0"/>
                </a:lnTo>
                <a:lnTo>
                  <a:pt x="6046631" y="7113684"/>
                </a:lnTo>
                <a:lnTo>
                  <a:pt x="0" y="7113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2718160" y="4309685"/>
            <a:ext cx="725087" cy="118438"/>
            <a:chOff x="0" y="0"/>
            <a:chExt cx="190970" cy="311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0970" cy="31194"/>
            </a:xfrm>
            <a:custGeom>
              <a:avLst/>
              <a:gdLst/>
              <a:ahLst/>
              <a:cxnLst/>
              <a:rect l="l" t="t" r="r" b="b"/>
              <a:pathLst>
                <a:path w="190970" h="31194">
                  <a:moveTo>
                    <a:pt x="0" y="0"/>
                  </a:moveTo>
                  <a:lnTo>
                    <a:pt x="190970" y="0"/>
                  </a:lnTo>
                  <a:lnTo>
                    <a:pt x="190970" y="31194"/>
                  </a:lnTo>
                  <a:lnTo>
                    <a:pt x="0" y="31194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90970" cy="6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718160" y="4713967"/>
            <a:ext cx="3975976" cy="617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3"/>
              </a:lnSpc>
            </a:pPr>
            <a:r>
              <a:rPr lang="en-US" sz="1978" b="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Credential Harvesting Methods</a:t>
            </a:r>
          </a:p>
          <a:p>
            <a:pPr algn="l">
              <a:lnSpc>
                <a:spcPts val="2373"/>
              </a:lnSpc>
            </a:pPr>
            <a:endParaRPr lang="en-US" sz="1978" b="1">
              <a:solidFill>
                <a:srgbClr val="5CE1E6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424793" y="4956885"/>
            <a:ext cx="5192753" cy="66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155" b="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 Business Email Compromise (BEC)</a:t>
            </a:r>
          </a:p>
          <a:p>
            <a:pPr algn="l">
              <a:lnSpc>
                <a:spcPts val="2587"/>
              </a:lnSpc>
            </a:pPr>
            <a:endParaRPr lang="en-US" sz="2155" b="1">
              <a:solidFill>
                <a:srgbClr val="5CE1E6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574459" y="5293284"/>
            <a:ext cx="4513073" cy="257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43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Fraudsters research company hierarchies and business relationships, then impersonate executives to authorize wire transfers, demanding urgency to bypass verification procedures.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3774927" y="8236601"/>
            <a:ext cx="2962055" cy="306977"/>
          </a:xfrm>
          <a:custGeom>
            <a:avLst/>
            <a:gdLst/>
            <a:ahLst/>
            <a:cxnLst/>
            <a:rect l="l" t="t" r="r" b="b"/>
            <a:pathLst>
              <a:path w="2962055" h="306977">
                <a:moveTo>
                  <a:pt x="0" y="0"/>
                </a:moveTo>
                <a:lnTo>
                  <a:pt x="2962055" y="0"/>
                </a:lnTo>
                <a:lnTo>
                  <a:pt x="2962055" y="306976"/>
                </a:lnTo>
                <a:lnTo>
                  <a:pt x="0" y="306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5400000">
            <a:off x="1084896" y="8867583"/>
            <a:ext cx="402047" cy="379386"/>
          </a:xfrm>
          <a:custGeom>
            <a:avLst/>
            <a:gdLst/>
            <a:ahLst/>
            <a:cxnLst/>
            <a:rect l="l" t="t" r="r" b="b"/>
            <a:pathLst>
              <a:path w="402047" h="379386">
                <a:moveTo>
                  <a:pt x="0" y="0"/>
                </a:moveTo>
                <a:lnTo>
                  <a:pt x="402047" y="0"/>
                </a:lnTo>
                <a:lnTo>
                  <a:pt x="402047" y="379387"/>
                </a:lnTo>
                <a:lnTo>
                  <a:pt x="0" y="3793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2033027">
            <a:off x="13790639" y="1037849"/>
            <a:ext cx="2556836" cy="2687870"/>
          </a:xfrm>
          <a:custGeom>
            <a:avLst/>
            <a:gdLst/>
            <a:ahLst/>
            <a:cxnLst/>
            <a:rect l="l" t="t" r="r" b="b"/>
            <a:pathLst>
              <a:path w="2556836" h="2687870">
                <a:moveTo>
                  <a:pt x="0" y="0"/>
                </a:moveTo>
                <a:lnTo>
                  <a:pt x="2556837" y="0"/>
                </a:lnTo>
                <a:lnTo>
                  <a:pt x="2556837" y="2687870"/>
                </a:lnTo>
                <a:lnTo>
                  <a:pt x="0" y="2687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-1329141">
            <a:off x="6020113" y="3156425"/>
            <a:ext cx="1348045" cy="1626601"/>
          </a:xfrm>
          <a:custGeom>
            <a:avLst/>
            <a:gdLst/>
            <a:ahLst/>
            <a:cxnLst/>
            <a:rect l="l" t="t" r="r" b="b"/>
            <a:pathLst>
              <a:path w="1348045" h="1626601">
                <a:moveTo>
                  <a:pt x="0" y="0"/>
                </a:moveTo>
                <a:lnTo>
                  <a:pt x="1348046" y="0"/>
                </a:lnTo>
                <a:lnTo>
                  <a:pt x="1348046" y="1626601"/>
                </a:lnTo>
                <a:lnTo>
                  <a:pt x="0" y="1626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2718160" y="5258685"/>
            <a:ext cx="4609643" cy="3002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7"/>
              </a:lnSpc>
            </a:pPr>
            <a:r>
              <a:rPr lang="en-US" sz="248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Attackers create convincing replicas of login pages for banks, email services, and social platforms, collecting usernames and passwords through fake account verification prompts or password reset pages.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49619"/>
            <a:ext cx="402047" cy="379386"/>
          </a:xfrm>
          <a:custGeom>
            <a:avLst/>
            <a:gdLst/>
            <a:ahLst/>
            <a:cxnLst/>
            <a:rect l="l" t="t" r="r" b="b"/>
            <a:pathLst>
              <a:path w="402047" h="379386">
                <a:moveTo>
                  <a:pt x="0" y="0"/>
                </a:moveTo>
                <a:lnTo>
                  <a:pt x="402047" y="0"/>
                </a:lnTo>
                <a:lnTo>
                  <a:pt x="402047" y="379386"/>
                </a:lnTo>
                <a:lnTo>
                  <a:pt x="0" y="3793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1028700" y="2700992"/>
            <a:ext cx="11938691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1432779" y="-38100"/>
            <a:ext cx="6944602" cy="2614117"/>
            <a:chOff x="0" y="0"/>
            <a:chExt cx="2209493" cy="8174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9493" cy="817449"/>
            </a:xfrm>
            <a:custGeom>
              <a:avLst/>
              <a:gdLst/>
              <a:ahLst/>
              <a:cxnLst/>
              <a:rect l="l" t="t" r="r" b="b"/>
              <a:pathLst>
                <a:path w="2209493" h="817449">
                  <a:moveTo>
                    <a:pt x="0" y="0"/>
                  </a:moveTo>
                  <a:lnTo>
                    <a:pt x="2209493" y="0"/>
                  </a:lnTo>
                  <a:lnTo>
                    <a:pt x="2209493" y="817449"/>
                  </a:lnTo>
                  <a:lnTo>
                    <a:pt x="0" y="817449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09493" cy="855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432778" y="1049619"/>
            <a:ext cx="5826522" cy="8208681"/>
            <a:chOff x="0" y="0"/>
            <a:chExt cx="4507230" cy="6350000"/>
          </a:xfrm>
        </p:grpSpPr>
        <p:sp>
          <p:nvSpPr>
            <p:cNvPr id="8" name="Freeform 8"/>
            <p:cNvSpPr/>
            <p:nvPr/>
          </p:nvSpPr>
          <p:spPr>
            <a:xfrm flipH="1">
              <a:off x="0" y="0"/>
              <a:ext cx="4505960" cy="6350000"/>
            </a:xfrm>
            <a:custGeom>
              <a:avLst/>
              <a:gdLst/>
              <a:ahLst/>
              <a:cxnLst/>
              <a:rect l="l" t="t" r="r" b="b"/>
              <a:pathLst>
                <a:path w="4505960" h="6350000">
                  <a:moveTo>
                    <a:pt x="4505960" y="561340"/>
                  </a:moveTo>
                  <a:lnTo>
                    <a:pt x="4505960" y="3961130"/>
                  </a:lnTo>
                  <a:cubicBezTo>
                    <a:pt x="4505960" y="4272280"/>
                    <a:pt x="4253230" y="4523740"/>
                    <a:pt x="3943350" y="4522470"/>
                  </a:cubicBezTo>
                  <a:cubicBezTo>
                    <a:pt x="3632200" y="4521200"/>
                    <a:pt x="3379470" y="4773930"/>
                    <a:pt x="3380740" y="5085080"/>
                  </a:cubicBezTo>
                  <a:lnTo>
                    <a:pt x="3382010" y="5787390"/>
                  </a:lnTo>
                  <a:cubicBezTo>
                    <a:pt x="3382010" y="6098540"/>
                    <a:pt x="3130550" y="6350000"/>
                    <a:pt x="2820670" y="6350000"/>
                  </a:cubicBezTo>
                  <a:lnTo>
                    <a:pt x="561340" y="6350000"/>
                  </a:lnTo>
                  <a:cubicBezTo>
                    <a:pt x="251460" y="6350000"/>
                    <a:pt x="0" y="6098540"/>
                    <a:pt x="0" y="5788660"/>
                  </a:cubicBezTo>
                  <a:lnTo>
                    <a:pt x="0" y="2679700"/>
                  </a:lnTo>
                  <a:cubicBezTo>
                    <a:pt x="0" y="2494280"/>
                    <a:pt x="91440" y="2321560"/>
                    <a:pt x="243840" y="2217420"/>
                  </a:cubicBezTo>
                  <a:lnTo>
                    <a:pt x="3321050" y="99060"/>
                  </a:lnTo>
                  <a:cubicBezTo>
                    <a:pt x="3415030" y="34290"/>
                    <a:pt x="3525520" y="0"/>
                    <a:pt x="3639820" y="0"/>
                  </a:cubicBezTo>
                  <a:lnTo>
                    <a:pt x="3944620" y="0"/>
                  </a:lnTo>
                  <a:cubicBezTo>
                    <a:pt x="4254500" y="0"/>
                    <a:pt x="4505960" y="251460"/>
                    <a:pt x="4505960" y="561340"/>
                  </a:cubicBezTo>
                  <a:close/>
                </a:path>
              </a:pathLst>
            </a:custGeom>
            <a:blipFill>
              <a:blip r:embed="rId3"/>
              <a:stretch>
                <a:fillRect l="-28856" r="-82662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868919" y="2958058"/>
            <a:ext cx="10773026" cy="3415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04"/>
              </a:lnSpc>
            </a:pPr>
            <a:r>
              <a:rPr lang="en-US" sz="21078" spc="-210">
                <a:solidFill>
                  <a:srgbClr val="5CE1E6"/>
                </a:solidFill>
                <a:latin typeface="RQND Pro Wide"/>
                <a:ea typeface="RQND Pro Wide"/>
                <a:cs typeface="RQND Pro Wide"/>
                <a:sym typeface="RQND Pro Wide"/>
              </a:rPr>
              <a:t>THANK YOU</a:t>
            </a:r>
          </a:p>
        </p:txBody>
      </p:sp>
      <p:grpSp>
        <p:nvGrpSpPr>
          <p:cNvPr id="10" name="Group 10"/>
          <p:cNvGrpSpPr/>
          <p:nvPr/>
        </p:nvGrpSpPr>
        <p:grpSpPr>
          <a:xfrm rot="-10800000">
            <a:off x="-1" y="6671494"/>
            <a:ext cx="6421163" cy="1955496"/>
            <a:chOff x="0" y="0"/>
            <a:chExt cx="2209493" cy="5150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9493" cy="515028"/>
            </a:xfrm>
            <a:custGeom>
              <a:avLst/>
              <a:gdLst/>
              <a:ahLst/>
              <a:cxnLst/>
              <a:rect l="l" t="t" r="r" b="b"/>
              <a:pathLst>
                <a:path w="2209493" h="515028">
                  <a:moveTo>
                    <a:pt x="0" y="0"/>
                  </a:moveTo>
                  <a:lnTo>
                    <a:pt x="2209493" y="0"/>
                  </a:lnTo>
                  <a:lnTo>
                    <a:pt x="2209493" y="515028"/>
                  </a:lnTo>
                  <a:lnTo>
                    <a:pt x="0" y="515028"/>
                  </a:ln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0"/>
                  </a:srgbClr>
                </a:gs>
                <a:gs pos="100000">
                  <a:srgbClr val="5D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09493" cy="553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868919" y="6985756"/>
            <a:ext cx="8662810" cy="1326971"/>
            <a:chOff x="0" y="0"/>
            <a:chExt cx="2281563" cy="3494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81563" cy="349490"/>
            </a:xfrm>
            <a:custGeom>
              <a:avLst/>
              <a:gdLst/>
              <a:ahLst/>
              <a:cxnLst/>
              <a:rect l="l" t="t" r="r" b="b"/>
              <a:pathLst>
                <a:path w="2281563" h="349490">
                  <a:moveTo>
                    <a:pt x="0" y="0"/>
                  </a:moveTo>
                  <a:lnTo>
                    <a:pt x="2281563" y="0"/>
                  </a:lnTo>
                  <a:lnTo>
                    <a:pt x="2281563" y="349490"/>
                  </a:lnTo>
                  <a:lnTo>
                    <a:pt x="0" y="349490"/>
                  </a:lnTo>
                  <a:close/>
                </a:path>
              </a:pathLst>
            </a:custGeom>
            <a:solidFill>
              <a:srgbClr val="0F006C"/>
            </a:solidFill>
            <a:ln w="9525" cap="sq">
              <a:solidFill>
                <a:srgbClr val="523AE7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81563" cy="387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868919" y="6985756"/>
            <a:ext cx="725087" cy="118438"/>
            <a:chOff x="0" y="0"/>
            <a:chExt cx="190970" cy="3119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0970" cy="31194"/>
            </a:xfrm>
            <a:custGeom>
              <a:avLst/>
              <a:gdLst/>
              <a:ahLst/>
              <a:cxnLst/>
              <a:rect l="l" t="t" r="r" b="b"/>
              <a:pathLst>
                <a:path w="190970" h="31194">
                  <a:moveTo>
                    <a:pt x="0" y="0"/>
                  </a:moveTo>
                  <a:lnTo>
                    <a:pt x="190970" y="0"/>
                  </a:lnTo>
                  <a:lnTo>
                    <a:pt x="190970" y="31194"/>
                  </a:lnTo>
                  <a:lnTo>
                    <a:pt x="0" y="31194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90970" cy="69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0313056" y="5710575"/>
            <a:ext cx="3092061" cy="3533784"/>
          </a:xfrm>
          <a:custGeom>
            <a:avLst/>
            <a:gdLst/>
            <a:ahLst/>
            <a:cxnLst/>
            <a:rect l="l" t="t" r="r" b="b"/>
            <a:pathLst>
              <a:path w="3092061" h="3533784">
                <a:moveTo>
                  <a:pt x="0" y="0"/>
                </a:moveTo>
                <a:lnTo>
                  <a:pt x="3092061" y="0"/>
                </a:lnTo>
                <a:lnTo>
                  <a:pt x="3092061" y="3533784"/>
                </a:lnTo>
                <a:lnTo>
                  <a:pt x="0" y="353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4564495" y="982092"/>
            <a:ext cx="2694805" cy="2624249"/>
          </a:xfrm>
          <a:custGeom>
            <a:avLst/>
            <a:gdLst/>
            <a:ahLst/>
            <a:cxnLst/>
            <a:rect l="l" t="t" r="r" b="b"/>
            <a:pathLst>
              <a:path w="2694805" h="2624249">
                <a:moveTo>
                  <a:pt x="0" y="0"/>
                </a:moveTo>
                <a:lnTo>
                  <a:pt x="2694805" y="0"/>
                </a:lnTo>
                <a:lnTo>
                  <a:pt x="2694805" y="2624249"/>
                </a:lnTo>
                <a:lnTo>
                  <a:pt x="0" y="26242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1" name="AutoShape 21"/>
          <p:cNvSpPr/>
          <p:nvPr/>
        </p:nvSpPr>
        <p:spPr>
          <a:xfrm flipV="1">
            <a:off x="1028700" y="6171369"/>
            <a:ext cx="11938691" cy="0"/>
          </a:xfrm>
          <a:prstGeom prst="line">
            <a:avLst/>
          </a:prstGeom>
          <a:ln w="9525" cap="flat">
            <a:solidFill>
              <a:srgbClr val="523AE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Freeform 22"/>
          <p:cNvSpPr/>
          <p:nvPr/>
        </p:nvSpPr>
        <p:spPr>
          <a:xfrm>
            <a:off x="1028700" y="3192043"/>
            <a:ext cx="2395754" cy="2518533"/>
          </a:xfrm>
          <a:custGeom>
            <a:avLst/>
            <a:gdLst/>
            <a:ahLst/>
            <a:cxnLst/>
            <a:rect l="l" t="t" r="r" b="b"/>
            <a:pathLst>
              <a:path w="2395754" h="2518533">
                <a:moveTo>
                  <a:pt x="0" y="0"/>
                </a:moveTo>
                <a:lnTo>
                  <a:pt x="2395754" y="0"/>
                </a:lnTo>
                <a:lnTo>
                  <a:pt x="2395754" y="2518532"/>
                </a:lnTo>
                <a:lnTo>
                  <a:pt x="0" y="2518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28700" y="8991949"/>
            <a:ext cx="316131" cy="245432"/>
          </a:xfrm>
          <a:custGeom>
            <a:avLst/>
            <a:gdLst/>
            <a:ahLst/>
            <a:cxnLst/>
            <a:rect l="l" t="t" r="r" b="b"/>
            <a:pathLst>
              <a:path w="316131" h="245432">
                <a:moveTo>
                  <a:pt x="0" y="0"/>
                </a:moveTo>
                <a:lnTo>
                  <a:pt x="316131" y="0"/>
                </a:lnTo>
                <a:lnTo>
                  <a:pt x="316131" y="245432"/>
                </a:lnTo>
                <a:lnTo>
                  <a:pt x="0" y="245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9712981" y="1429005"/>
            <a:ext cx="2138822" cy="507602"/>
            <a:chOff x="0" y="0"/>
            <a:chExt cx="563311" cy="1336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63311" cy="133690"/>
            </a:xfrm>
            <a:custGeom>
              <a:avLst/>
              <a:gdLst/>
              <a:ahLst/>
              <a:cxnLst/>
              <a:rect l="l" t="t" r="r" b="b"/>
              <a:pathLst>
                <a:path w="563311" h="133690">
                  <a:moveTo>
                    <a:pt x="0" y="0"/>
                  </a:moveTo>
                  <a:lnTo>
                    <a:pt x="563311" y="0"/>
                  </a:lnTo>
                  <a:lnTo>
                    <a:pt x="563311" y="133690"/>
                  </a:lnTo>
                  <a:lnTo>
                    <a:pt x="0" y="133690"/>
                  </a:lnTo>
                  <a:close/>
                </a:path>
              </a:pathLst>
            </a:custGeom>
            <a:solidFill>
              <a:srgbClr val="0F006C"/>
            </a:solidFill>
            <a:ln w="9525" cap="sq">
              <a:solidFill>
                <a:srgbClr val="523AE7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563311" cy="171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9895828" y="1594150"/>
            <a:ext cx="1773128" cy="177313"/>
          </a:xfrm>
          <a:custGeom>
            <a:avLst/>
            <a:gdLst/>
            <a:ahLst/>
            <a:cxnLst/>
            <a:rect l="l" t="t" r="r" b="b"/>
            <a:pathLst>
              <a:path w="1773128" h="177313">
                <a:moveTo>
                  <a:pt x="0" y="0"/>
                </a:moveTo>
                <a:lnTo>
                  <a:pt x="1773128" y="0"/>
                </a:lnTo>
                <a:lnTo>
                  <a:pt x="1773128" y="177313"/>
                </a:lnTo>
                <a:lnTo>
                  <a:pt x="0" y="1773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3336256" y="7385733"/>
            <a:ext cx="2473230" cy="536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Stay informed and proactive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05902" y="7385733"/>
            <a:ext cx="3307079" cy="536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b="1">
                <a:solidFill>
                  <a:srgbClr val="5CE1E6"/>
                </a:solidFill>
                <a:latin typeface="Telegraf Bold"/>
                <a:ea typeface="Telegraf Bold"/>
                <a:cs typeface="Telegraf Bold"/>
                <a:sym typeface="Telegraf Bold"/>
              </a:rPr>
              <a:t>Cyber security is everyone’s responsibility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562</Words>
  <Application>Microsoft Office PowerPoint</Application>
  <PresentationFormat>Custom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Telegraf</vt:lpstr>
      <vt:lpstr>Canva Sans Bold</vt:lpstr>
      <vt:lpstr>Telegraf Bold</vt:lpstr>
      <vt:lpstr>Calibri</vt:lpstr>
      <vt:lpstr>Arial</vt:lpstr>
      <vt:lpstr>RQND Pro Wide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phishing attacks and social engineering.</dc:title>
  <cp:lastModifiedBy>David Mwingira</cp:lastModifiedBy>
  <cp:revision>2</cp:revision>
  <dcterms:created xsi:type="dcterms:W3CDTF">2006-08-16T00:00:00Z</dcterms:created>
  <dcterms:modified xsi:type="dcterms:W3CDTF">2026-05-06T14:49:53Z</dcterms:modified>
  <dc:identifier>DAHIyplwiwo</dc:identifier>
</cp:coreProperties>
</file>